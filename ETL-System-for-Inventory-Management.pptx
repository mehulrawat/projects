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80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29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5196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8" y="3066217"/>
            <a:ext cx="7748187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ETL System for Inventory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8" y="4816554"/>
            <a:ext cx="774818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703" y="815637"/>
            <a:ext cx="2789158" cy="34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199703" y="1107758"/>
            <a:ext cx="7717393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199703" y="1879283"/>
            <a:ext cx="7717393" cy="1199912"/>
          </a:xfrm>
          <a:prstGeom prst="roundRect">
            <a:avLst>
              <a:gd name="adj" fmla="val 6096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703" y="1864042"/>
            <a:ext cx="7717393" cy="609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685" y="1680567"/>
            <a:ext cx="397431" cy="3974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78866" y="1779865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347341" y="2210395"/>
            <a:ext cx="17431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Automated Data Flow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6347341" y="2507694"/>
            <a:ext cx="7422118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Seamlessly integrate data from customer, product, and sales sources, ensuring daily updates to our data warehouse for timely insights.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199703" y="3410307"/>
            <a:ext cx="7717393" cy="1199912"/>
          </a:xfrm>
          <a:prstGeom prst="roundRect">
            <a:avLst>
              <a:gd name="adj" fmla="val 6096"/>
            </a:avLst>
          </a:prstGeom>
          <a:solidFill>
            <a:srgbClr val="FFFFF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703" y="3395067"/>
            <a:ext cx="7717393" cy="609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978866" y="3310890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ea typeface="Barlow Bold" pitchFamily="34" charset="-122"/>
                <a:cs typeface="Barlow Bold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6347341" y="3741420"/>
            <a:ext cx="188999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SCD Type 2 Management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6347341" y="4038719"/>
            <a:ext cx="7422118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Implement Slowly Changing Dimension Type 2 for customer and product data, enabling comprehensive historical tracking and analysis</a:t>
            </a:r>
            <a:r>
              <a:rPr lang="en-US" sz="10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6199703" y="4941332"/>
            <a:ext cx="7717393" cy="1199912"/>
          </a:xfrm>
          <a:prstGeom prst="roundRect">
            <a:avLst>
              <a:gd name="adj" fmla="val 6096"/>
            </a:avLst>
          </a:prstGeom>
          <a:solidFill>
            <a:srgbClr val="FFFFFF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703" y="4926092"/>
            <a:ext cx="7717393" cy="6096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685" y="4742617"/>
            <a:ext cx="397431" cy="39743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978866" y="4841915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21" name="Text 12"/>
          <p:cNvSpPr/>
          <p:nvPr/>
        </p:nvSpPr>
        <p:spPr>
          <a:xfrm>
            <a:off x="6347341" y="5272445"/>
            <a:ext cx="17431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Inventory Tracking</a:t>
            </a:r>
            <a:endParaRPr lang="en-US" sz="2000" dirty="0"/>
          </a:p>
        </p:txBody>
      </p:sp>
      <p:sp>
        <p:nvSpPr>
          <p:cNvPr id="22" name="Text 13"/>
          <p:cNvSpPr/>
          <p:nvPr/>
        </p:nvSpPr>
        <p:spPr>
          <a:xfrm>
            <a:off x="6347341" y="5569744"/>
            <a:ext cx="7422118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Develop a precise system for monitoring inventory movements, providing accurate stock levels at any given time to optimize operations.</a:t>
            </a:r>
            <a:endParaRPr lang="en-US" sz="1600" dirty="0"/>
          </a:p>
        </p:txBody>
      </p:sp>
      <p:sp>
        <p:nvSpPr>
          <p:cNvPr id="23" name="Shape 14"/>
          <p:cNvSpPr/>
          <p:nvPr/>
        </p:nvSpPr>
        <p:spPr>
          <a:xfrm>
            <a:off x="6199703" y="6472357"/>
            <a:ext cx="7717393" cy="1199912"/>
          </a:xfrm>
          <a:prstGeom prst="roundRect">
            <a:avLst>
              <a:gd name="adj" fmla="val 6096"/>
            </a:avLst>
          </a:prstGeom>
          <a:solidFill>
            <a:srgbClr val="FFFFFF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703" y="6457117"/>
            <a:ext cx="7717393" cy="60960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685" y="6273641"/>
            <a:ext cx="397431" cy="397431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978866" y="6372939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27" name="Text 16"/>
          <p:cNvSpPr/>
          <p:nvPr/>
        </p:nvSpPr>
        <p:spPr>
          <a:xfrm>
            <a:off x="6347341" y="6803469"/>
            <a:ext cx="17431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Analytical Foundation</a:t>
            </a:r>
            <a:endParaRPr lang="en-US" sz="2000" dirty="0"/>
          </a:p>
        </p:txBody>
      </p:sp>
      <p:sp>
        <p:nvSpPr>
          <p:cNvPr id="28" name="Text 17"/>
          <p:cNvSpPr/>
          <p:nvPr/>
        </p:nvSpPr>
        <p:spPr>
          <a:xfrm>
            <a:off x="6347341" y="7100768"/>
            <a:ext cx="7422118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Lay the groundwork for advanced analytics, historical reporting, and deep insights into product performance and trends, empowering data-driven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2399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Technology Used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46162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09" y="4052054"/>
            <a:ext cx="649962" cy="649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497276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SQL Server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5458897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0574" y="4052054"/>
            <a:ext cx="649962" cy="649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0574" y="4972764"/>
            <a:ext cx="612802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Microsoft SQL Server Integration Services (SSIS)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0574" y="5458897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066" y="367049"/>
            <a:ext cx="14417898" cy="759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</a:p>
          <a:p>
            <a:pPr marL="0" indent="0" algn="l">
              <a:lnSpc>
                <a:spcPts val="5600"/>
              </a:lnSpc>
              <a:buNone/>
            </a:pP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3915AB-0966-A8FB-B4A0-D2C0D061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6067"/>
            <a:ext cx="13368271" cy="70769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28142"/>
            <a:ext cx="960822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Customer &amp; Product: Managing Slowly Changing Dimensions (SCD Type 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8309" y="1909882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293501"/>
            <a:ext cx="704136" cy="8448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3177" y="2434233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Source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603177" y="2750225"/>
            <a:ext cx="1226891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Raw customer/product events are ingested, capturing all changes as they occur in the operational systems.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3138368"/>
            <a:ext cx="704136" cy="8448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3177" y="3279100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CDC Process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603177" y="3595092"/>
            <a:ext cx="1226891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 Change Data Capture (CDC) process detects all Inserts, Updates, and Deletes, ensuring no data modification is missed</a:t>
            </a:r>
            <a:r>
              <a:rPr lang="en-US" sz="11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983236"/>
            <a:ext cx="704136" cy="8448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3177" y="4123968"/>
            <a:ext cx="192071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Inserts → New Records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603177" y="4439960"/>
            <a:ext cx="1226891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New records are loaded with a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StartDate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EndDate NULL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and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IsActive = true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marking them as current.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4828103"/>
            <a:ext cx="704136" cy="8448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3177" y="4968835"/>
            <a:ext cx="241482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Updates → Inactivate + Insert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603177" y="5284827"/>
            <a:ext cx="1226891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For updates, the old record's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EndDate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is set and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IsActive = false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; a new record is inserted with a fresh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StartDate</a:t>
            </a:r>
            <a:r>
              <a:rPr lang="en-US" sz="11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09" y="5672971"/>
            <a:ext cx="704136" cy="8448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03177" y="5813703"/>
            <a:ext cx="197334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Deletes → Mark Inactive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1603177" y="6129695"/>
            <a:ext cx="12268914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For logical deletes, the record's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EndDate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is set and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IsActive = false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preserving historical context</a:t>
            </a:r>
            <a:r>
              <a:rPr lang="en-US" sz="11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758309" y="6676192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61580"/>
            <a:ext cx="710017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Sales Feed 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8309" y="2813685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197304"/>
            <a:ext cx="352068" cy="352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3725347"/>
            <a:ext cx="192131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Load New Transactions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58309" y="4041338"/>
            <a:ext cx="6468904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Only new sales transactions are extracted and loaded into the data warehouse, optimizing processing time and resource utilization.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187" y="3197304"/>
            <a:ext cx="352068" cy="352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3187" y="3725347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Deduplication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403187" y="4041338"/>
            <a:ext cx="6468904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Robust logic is implemented to prevent duplication, even if daily files are re-sent, ensuring data uniqueness and integrity.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773454"/>
            <a:ext cx="352068" cy="352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8309" y="5301496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Currency Conversion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58309" y="5617488"/>
            <a:ext cx="6468904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All sales amounts are converted from USD to NPR (Nepalese Rupees) during the ETL process to provide a standardized currency for reporting.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187" y="4773454"/>
            <a:ext cx="352068" cy="3520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03187" y="5301496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Watermark Tracking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403187" y="5617488"/>
            <a:ext cx="6468904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Processing is driven by a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sales_date watermark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to ensure accurate incremental loads and maintain data consistency over time.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0646" y="683181"/>
            <a:ext cx="628814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Inventory Management: Daily Balance Tracking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120646" y="1169789"/>
            <a:ext cx="7875508" cy="37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120646" y="1855708"/>
            <a:ext cx="7875508" cy="1068467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646" y="1840468"/>
            <a:ext cx="7875508" cy="609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711" y="1679019"/>
            <a:ext cx="353378" cy="3533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87677" y="1767364"/>
            <a:ext cx="141327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253639" y="2150150"/>
            <a:ext cx="1572935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Beginning of Day (BOH)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6253639" y="2414468"/>
            <a:ext cx="7609523" cy="37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The BOH for the current day is consistently set equal to the End of Day (EOH) from the previous day, ensuring a continuous inventory record.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120646" y="3218617"/>
            <a:ext cx="7875508" cy="880110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646" y="3203377"/>
            <a:ext cx="7875508" cy="6096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711" y="3041928"/>
            <a:ext cx="353378" cy="35337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987677" y="3130272"/>
            <a:ext cx="141327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253639" y="3513058"/>
            <a:ext cx="1942981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End of Day (EOH) Calculation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6253639" y="3777377"/>
            <a:ext cx="7609523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EOH is calculated as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BOH - QuantitySold + </a:t>
            </a:r>
            <a:r>
              <a:rPr lang="en-US" sz="1600" dirty="0" err="1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QuantityReceived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</a:p>
        </p:txBody>
      </p:sp>
      <p:sp>
        <p:nvSpPr>
          <p:cNvPr id="17" name="Shape 10"/>
          <p:cNvSpPr/>
          <p:nvPr/>
        </p:nvSpPr>
        <p:spPr>
          <a:xfrm>
            <a:off x="6120646" y="4393168"/>
            <a:ext cx="7875508" cy="880110"/>
          </a:xfrm>
          <a:prstGeom prst="roundRect">
            <a:avLst>
              <a:gd name="adj" fmla="val 8312"/>
            </a:avLst>
          </a:prstGeom>
          <a:solidFill>
            <a:srgbClr val="FFFFFF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646" y="4377928"/>
            <a:ext cx="7875508" cy="6096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711" y="4216479"/>
            <a:ext cx="353378" cy="35337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987677" y="4304824"/>
            <a:ext cx="141327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6253639" y="4687610"/>
            <a:ext cx="1549956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First-Time Products</a:t>
            </a:r>
            <a:endParaRPr lang="en-US" sz="2000" dirty="0"/>
          </a:p>
        </p:txBody>
      </p:sp>
      <p:sp>
        <p:nvSpPr>
          <p:cNvPr id="22" name="Text 13"/>
          <p:cNvSpPr/>
          <p:nvPr/>
        </p:nvSpPr>
        <p:spPr>
          <a:xfrm>
            <a:off x="6253639" y="4951928"/>
            <a:ext cx="7609523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For newly introduced products, the BOH will default to 0 on their initial entry 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into the system, establishing a baseline for tracking.</a:t>
            </a:r>
            <a:endParaRPr lang="en-US" sz="16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711" y="5391031"/>
            <a:ext cx="353378" cy="35337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987677" y="5479375"/>
            <a:ext cx="141327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7" name="Text 16"/>
          <p:cNvSpPr/>
          <p:nvPr/>
        </p:nvSpPr>
        <p:spPr>
          <a:xfrm>
            <a:off x="6253639" y="5862161"/>
            <a:ext cx="7609523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5943957" y="5862161"/>
            <a:ext cx="7875508" cy="1068467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586" y="5470862"/>
            <a:ext cx="7875508" cy="60960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1316" y="5470862"/>
            <a:ext cx="353378" cy="35337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987677" y="6389608"/>
            <a:ext cx="141327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32" name="Text 19"/>
          <p:cNvSpPr/>
          <p:nvPr/>
        </p:nvSpPr>
        <p:spPr>
          <a:xfrm>
            <a:off x="6253639" y="5778161"/>
            <a:ext cx="1549956" cy="19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Output: InventoryDaily</a:t>
            </a:r>
            <a:endParaRPr lang="en-US" sz="2000" dirty="0"/>
          </a:p>
        </p:txBody>
      </p:sp>
      <p:sp>
        <p:nvSpPr>
          <p:cNvPr id="33" name="Text 20"/>
          <p:cNvSpPr/>
          <p:nvPr/>
        </p:nvSpPr>
        <p:spPr>
          <a:xfrm>
            <a:off x="6253639" y="6083499"/>
            <a:ext cx="7609523" cy="37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All calculated inventory data, including BOH and EOH, is stored in the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InventoryDaily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table for easy access and analysis of stock trends.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78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932999"/>
            <a:ext cx="619315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Final Product Dimension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244709" y="2514738"/>
            <a:ext cx="7627382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244709" y="3123624"/>
            <a:ext cx="3743325" cy="1529001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469" y="3123624"/>
            <a:ext cx="60960" cy="15290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6401" y="3279596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Latest Active Record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46401" y="3595588"/>
            <a:ext cx="3385661" cy="90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Each product entry represents the most current active SCD2 record, ensuring up-to-date data for analysis and decision-making regarding product status.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28766" y="3123624"/>
            <a:ext cx="3743325" cy="1529001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15240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526" y="3123624"/>
            <a:ext cx="60960" cy="15290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30458" y="3279596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Total Quantity Sold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330458" y="3595588"/>
            <a:ext cx="3385661" cy="90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16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total_qty_sold</a:t>
            </a: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attribute aggregates the sum of quantities sold from the FactSales table, providing a vital performance metric for each product.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446401" y="4949328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446401" y="5265320"/>
            <a:ext cx="3385661" cy="90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13203"/>
            <a:ext cx="662725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Target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58309" y="2465308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309" y="2848928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232547"/>
            <a:ext cx="4277439" cy="1442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9041" y="3373279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FactSales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99041" y="3689271"/>
            <a:ext cx="399597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Manages incremental loads and converts all sales amounts from USD to NPR, ensuring consistent currency for financial reporting.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480" y="3232547"/>
            <a:ext cx="4277439" cy="14423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17212" y="3373279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DimCustomer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317212" y="3689271"/>
            <a:ext cx="399597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Utilizes SCD2 to track customer history and aggregates </a:t>
            </a:r>
            <a:r>
              <a:rPr lang="en-US" sz="14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total_amt_spent</a:t>
            </a:r>
            <a:r>
              <a:rPr lang="en-US" sz="1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enabling deeper customer lifetime value analysis.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652" y="3232547"/>
            <a:ext cx="4277439" cy="14423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35383" y="3373279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DimProduct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9735383" y="3689271"/>
            <a:ext cx="3995976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Also uses SCD2 for product history and tracks </a:t>
            </a:r>
            <a:r>
              <a:rPr lang="en-US" sz="14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total_qty_sold</a:t>
            </a:r>
            <a:r>
              <a:rPr lang="en-US" sz="1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essential for product performance and inventory optimization.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4815602"/>
            <a:ext cx="6486525" cy="12170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41" y="4956334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InventoryDaily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899041" y="5272326"/>
            <a:ext cx="6205061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Records daily Beginning of Day (BOH) and End of Day (EOH) stock levels, providing granular insights into inventory movements.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566" y="4815602"/>
            <a:ext cx="6486525" cy="121705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26298" y="4956334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 err="1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ETLAudit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7526298" y="5272326"/>
            <a:ext cx="6205061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Monitors and tracks the success or failure of ETL processes, offering critical audit trails for data governance and troubleshooting.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58309" y="6191012"/>
            <a:ext cx="13113782" cy="22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7089" y="1343382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Logging &amp; Monitoring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44709" y="2238375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3522226"/>
            <a:ext cx="7627382" cy="3934063"/>
          </a:xfrm>
          <a:prstGeom prst="roundRect">
            <a:avLst>
              <a:gd name="adj" fmla="val 826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52329" y="3529846"/>
            <a:ext cx="7612142" cy="1959412"/>
          </a:xfrm>
          <a:prstGeom prst="roundRect">
            <a:avLst>
              <a:gd name="adj" fmla="val 16586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68904" y="37464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ETL_Log Fields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68904" y="4232553"/>
            <a:ext cx="717899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Records include </a:t>
            </a:r>
            <a:r>
              <a:rPr lang="en-US" sz="17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PackageName</a:t>
            </a:r>
            <a:r>
              <a:rPr lang="en-US" sz="17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StartTime</a:t>
            </a:r>
            <a:r>
              <a:rPr lang="en-US" sz="17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EndTime</a:t>
            </a:r>
            <a:r>
              <a:rPr lang="en-US" sz="17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7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Status</a:t>
            </a:r>
            <a:r>
              <a:rPr lang="en-US" sz="17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, and </a:t>
            </a:r>
            <a:r>
              <a:rPr lang="en-US" sz="1700" dirty="0">
                <a:solidFill>
                  <a:srgbClr val="75BAE6"/>
                </a:solidFill>
                <a:ea typeface="Montserrat" pitchFamily="34" charset="-122"/>
                <a:cs typeface="Montserrat" pitchFamily="34" charset="-120"/>
              </a:rPr>
              <a:t>ErrorMessage</a:t>
            </a:r>
            <a:r>
              <a:rPr lang="en-US" sz="17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 for detailed traceability and quick identification of issues.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52329" y="5489258"/>
            <a:ext cx="7612142" cy="1959412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0" name="Shape 7"/>
          <p:cNvSpPr/>
          <p:nvPr/>
        </p:nvSpPr>
        <p:spPr>
          <a:xfrm>
            <a:off x="6252329" y="5489258"/>
            <a:ext cx="7612142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1" name="Text 8"/>
          <p:cNvSpPr/>
          <p:nvPr/>
        </p:nvSpPr>
        <p:spPr>
          <a:xfrm>
            <a:off x="6468904" y="57058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SSIS Event Handlers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6191964"/>
            <a:ext cx="717899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Leverage SSIS Event Handlers to capture critical events throughout the ETL process, providing real-time visibility into workflow execution.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968103"/>
            <a:ext cx="3706058" cy="46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244709" y="2642592"/>
            <a:ext cx="3743325" cy="1851660"/>
          </a:xfrm>
          <a:prstGeom prst="roundRect">
            <a:avLst>
              <a:gd name="adj" fmla="val 114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061" y="2790944"/>
            <a:ext cx="422434" cy="42243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9266" y="2907149"/>
            <a:ext cx="190024" cy="19002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93061" y="3354110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Enhanced Data Quality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393061" y="3670102"/>
            <a:ext cx="3446621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10128766" y="2642592"/>
            <a:ext cx="3743325" cy="1851660"/>
          </a:xfrm>
          <a:prstGeom prst="roundRect">
            <a:avLst>
              <a:gd name="adj" fmla="val 114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118" y="2790944"/>
            <a:ext cx="422434" cy="422434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93323" y="2907149"/>
            <a:ext cx="190024" cy="19002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277118" y="3354110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Accelerated Insights</a:t>
            </a:r>
            <a:endParaRPr lang="en-US" sz="2000" dirty="0"/>
          </a:p>
        </p:txBody>
      </p:sp>
      <p:sp>
        <p:nvSpPr>
          <p:cNvPr id="13" name="Text 6"/>
          <p:cNvSpPr/>
          <p:nvPr/>
        </p:nvSpPr>
        <p:spPr>
          <a:xfrm>
            <a:off x="10277118" y="3670102"/>
            <a:ext cx="3446621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6244709" y="4634984"/>
            <a:ext cx="7627382" cy="1626394"/>
          </a:xfrm>
          <a:prstGeom prst="roundRect">
            <a:avLst>
              <a:gd name="adj" fmla="val 1298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3061" y="4783336"/>
            <a:ext cx="422434" cy="422434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09266" y="4899541"/>
            <a:ext cx="190024" cy="19002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393061" y="5346502"/>
            <a:ext cx="193869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ea typeface="Barlow Bold" pitchFamily="34" charset="-122"/>
                <a:cs typeface="Barlow Bold" pitchFamily="34" charset="-120"/>
              </a:rPr>
              <a:t>Streamlined Operations</a:t>
            </a:r>
            <a:endParaRPr lang="en-US" sz="2000" dirty="0"/>
          </a:p>
        </p:txBody>
      </p:sp>
      <p:sp>
        <p:nvSpPr>
          <p:cNvPr id="18" name="Text 9"/>
          <p:cNvSpPr/>
          <p:nvPr/>
        </p:nvSpPr>
        <p:spPr>
          <a:xfrm>
            <a:off x="6393061" y="5662493"/>
            <a:ext cx="7330678" cy="45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893683"/>
            <a:ext cx="3021449" cy="5927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7052905"/>
            <a:ext cx="3854887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123021" y="3067407"/>
            <a:ext cx="5416510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Thank You!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5123021" y="3950137"/>
            <a:ext cx="875657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ea typeface="Montserrat" pitchFamily="34" charset="-122"/>
                <a:cs typeface="Montserrat" pitchFamily="34" charset="-120"/>
              </a:rPr>
              <a:t>Appreciated your time and attention.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23021" y="4485203"/>
            <a:ext cx="5416510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E3C4E"/>
                </a:solidFill>
                <a:ea typeface="Barlow Bold" pitchFamily="34" charset="-122"/>
                <a:cs typeface="Barlow Bold" pitchFamily="34" charset="-120"/>
              </a:rPr>
              <a:t>Any Questions?</a:t>
            </a:r>
            <a:endParaRPr lang="en-US" sz="4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726</Words>
  <Application>Microsoft Office PowerPoint</Application>
  <PresentationFormat>Custom</PresentationFormat>
  <Paragraphs>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Mehul Rawat Chhetri</dc:creator>
  <cp:lastModifiedBy>Mehul Rawat Chhetri</cp:lastModifiedBy>
  <cp:revision>2</cp:revision>
  <dcterms:created xsi:type="dcterms:W3CDTF">2025-12-09T08:06:43Z</dcterms:created>
  <dcterms:modified xsi:type="dcterms:W3CDTF">2025-12-09T08:44:50Z</dcterms:modified>
</cp:coreProperties>
</file>