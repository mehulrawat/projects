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4630400" cy="11305309"/>
  <p:notesSz cx="11305309" cy="14630400"/>
  <p:embeddedFontLst>
    <p:embeddedFont>
      <p:font typeface="Barlow"/>
      <p:regular r:id="rId20"/>
    </p:embeddedFont>
    <p:embeddedFont>
      <p:font typeface="Barlow"/>
      <p:regular r:id="rId21"/>
    </p:embeddedFont>
    <p:embeddedFont>
      <p:font typeface="Barlow"/>
      <p:regular r:id="rId22"/>
    </p:embeddedFont>
    <p:embeddedFont>
      <p:font typeface="Barlow"/>
      <p:regular r:id="rId23"/>
    </p:embeddedFont>
    <p:embeddedFont>
      <p:font typeface="Montserrat"/>
      <p:regular r:id="rId24"/>
    </p:embeddedFont>
    <p:embeddedFont>
      <p:font typeface="Montserrat"/>
      <p:regular r:id="rId25"/>
    </p:embeddedFont>
    <p:embeddedFont>
      <p:font typeface="Montserrat"/>
      <p:regular r:id="rId26"/>
    </p:embeddedFont>
    <p:embeddedFont>
      <p:font typeface="Montserrat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2" Type="http://schemas.openxmlformats.org/officeDocument/2006/relationships/image" Target="../media/image-1013-2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2" Type="http://schemas.openxmlformats.org/officeDocument/2006/relationships/image" Target="../media/image-1014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8"/>
            <a:ext cx="14630400" cy="113024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428"/>
            <a:ext cx="14630400" cy="113024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10825249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8"/>
            <a:ext cx="14630400" cy="113024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428"/>
            <a:ext cx="14630400" cy="113024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10825249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8"/>
            <a:ext cx="14630400" cy="113024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428"/>
            <a:ext cx="14630400" cy="113024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10825249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8"/>
            <a:ext cx="14630400" cy="113024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428"/>
            <a:ext cx="14630400" cy="113024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10825249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90"/>
            <a:ext cx="14630400" cy="11302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90"/>
            <a:ext cx="14630400" cy="1130292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10825249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1130530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130530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10825249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8"/>
            <a:ext cx="14630400" cy="113024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428"/>
            <a:ext cx="14630400" cy="113024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10825249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8"/>
            <a:ext cx="14630400" cy="113024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428"/>
            <a:ext cx="14630400" cy="113024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10825249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8"/>
            <a:ext cx="14630400" cy="113024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428"/>
            <a:ext cx="14630400" cy="113024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10825249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8"/>
            <a:ext cx="14630400" cy="113024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428"/>
            <a:ext cx="14630400" cy="113024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10825249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8"/>
            <a:ext cx="14630400" cy="113024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428"/>
            <a:ext cx="14630400" cy="113024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10825249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8"/>
            <a:ext cx="14630400" cy="113024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428"/>
            <a:ext cx="14630400" cy="113024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10825249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8"/>
            <a:ext cx="14630400" cy="113024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428"/>
            <a:ext cx="14630400" cy="113024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10825249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428"/>
            <a:ext cx="5760720" cy="113024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4342336"/>
            <a:ext cx="7627382" cy="178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5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Post/Issue Management System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758309" y="6529692"/>
            <a:ext cx="7627382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3158668"/>
            <a:ext cx="12160448" cy="122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50"/>
              </a:lnSpc>
              <a:buNone/>
            </a:pPr>
            <a:r>
              <a:rPr lang="en-US" sz="7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Project Overview &amp; Purpose</a:t>
            </a:r>
            <a:endParaRPr lang="en-US" sz="7700" dirty="0"/>
          </a:p>
        </p:txBody>
      </p:sp>
      <p:sp>
        <p:nvSpPr>
          <p:cNvPr id="3" name="Shape 1"/>
          <p:cNvSpPr/>
          <p:nvPr/>
        </p:nvSpPr>
        <p:spPr>
          <a:xfrm>
            <a:off x="758309" y="4929289"/>
            <a:ext cx="4190762" cy="2479345"/>
          </a:xfrm>
          <a:prstGeom prst="roundRect">
            <a:avLst>
              <a:gd name="adj" fmla="val 16385"/>
            </a:avLst>
          </a:prstGeom>
          <a:solidFill>
            <a:srgbClr val="D4E9F7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4297" y="5215207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Issue Tracking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44297" y="5822872"/>
            <a:ext cx="3618786" cy="129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Efficiently log and manage problems like "broken office furniture."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219819" y="4929289"/>
            <a:ext cx="4190762" cy="2479345"/>
          </a:xfrm>
          <a:prstGeom prst="roundRect">
            <a:avLst>
              <a:gd name="adj" fmla="val 16385"/>
            </a:avLst>
          </a:prstGeom>
          <a:solidFill>
            <a:srgbClr val="D4E9F7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05807" y="5215207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Complaint Handling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505807" y="5822872"/>
            <a:ext cx="3618786" cy="129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Address concerns such as "unhygienic canteen food" systematically.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681329" y="4929289"/>
            <a:ext cx="4190762" cy="2479345"/>
          </a:xfrm>
          <a:prstGeom prst="roundRect">
            <a:avLst>
              <a:gd name="adj" fmla="val 16385"/>
            </a:avLst>
          </a:prstGeom>
          <a:solidFill>
            <a:srgbClr val="D4E9F7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7317" y="5215207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Information Sharing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967317" y="5822872"/>
            <a:ext cx="3618786" cy="129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Facilitate general posts like "Lost and Found" or "Need Blood."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58309" y="7713240"/>
            <a:ext cx="13113782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321745"/>
            <a:ext cx="9835277" cy="122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50"/>
              </a:lnSpc>
              <a:buNone/>
            </a:pPr>
            <a:r>
              <a:rPr lang="en-US" sz="7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Technology Stack</a:t>
            </a:r>
            <a:endParaRPr lang="en-US" sz="7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4092366"/>
            <a:ext cx="947857" cy="947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44660" y="4320791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Backend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2044660" y="4928456"/>
            <a:ext cx="5101233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ASP.NET Core 8</a:t>
            </a:r>
            <a:endParaRPr lang="en-US" sz="2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388" y="4092366"/>
            <a:ext cx="947857" cy="9476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70739" y="4320791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Frontend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8770739" y="4928456"/>
            <a:ext cx="5101352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Angular 20.3.8, Node 24.11, npm11</a:t>
            </a:r>
            <a:endParaRPr lang="en-US" sz="2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5903220"/>
            <a:ext cx="947857" cy="94762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44660" y="6131645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Database</a:t>
            </a:r>
            <a:endParaRPr lang="en-US" sz="2800" dirty="0"/>
          </a:p>
        </p:txBody>
      </p:sp>
      <p:sp>
        <p:nvSpPr>
          <p:cNvPr id="11" name="Text 6"/>
          <p:cNvSpPr/>
          <p:nvPr/>
        </p:nvSpPr>
        <p:spPr>
          <a:xfrm>
            <a:off x="2044660" y="6739310"/>
            <a:ext cx="5101233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Server (Code-first approach)</a:t>
            </a:r>
            <a:endParaRPr lang="en-US" sz="2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388" y="5903220"/>
            <a:ext cx="947857" cy="94762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770739" y="6131645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Security</a:t>
            </a:r>
            <a:endParaRPr lang="en-US" sz="2800" dirty="0"/>
          </a:p>
        </p:txBody>
      </p:sp>
      <p:sp>
        <p:nvSpPr>
          <p:cNvPr id="14" name="Text 8"/>
          <p:cNvSpPr/>
          <p:nvPr/>
        </p:nvSpPr>
        <p:spPr>
          <a:xfrm>
            <a:off x="8770739" y="6739310"/>
            <a:ext cx="5101352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Basic Auth &amp; JWT</a:t>
            </a:r>
            <a:endParaRPr lang="en-US" sz="2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9" y="7714074"/>
            <a:ext cx="947857" cy="94762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44660" y="7942499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ORM</a:t>
            </a:r>
            <a:endParaRPr lang="en-US" sz="2800" dirty="0"/>
          </a:p>
        </p:txBody>
      </p:sp>
      <p:sp>
        <p:nvSpPr>
          <p:cNvPr id="17" name="Text 10"/>
          <p:cNvSpPr/>
          <p:nvPr/>
        </p:nvSpPr>
        <p:spPr>
          <a:xfrm>
            <a:off x="2044660" y="8550164"/>
            <a:ext cx="5101233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 Core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3297" y="653493"/>
            <a:ext cx="8311991" cy="779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Detailed Layered Architecture</a:t>
            </a:r>
            <a:endParaRPr lang="en-US" sz="4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5991" y="1906319"/>
            <a:ext cx="1646277" cy="214200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2502" y="3096533"/>
            <a:ext cx="333137" cy="33305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49083" y="2332577"/>
            <a:ext cx="3117413" cy="389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Presentation Layer</a:t>
            </a:r>
            <a:endParaRPr lang="en-US" sz="2450" dirty="0"/>
          </a:p>
        </p:txBody>
      </p:sp>
      <p:sp>
        <p:nvSpPr>
          <p:cNvPr id="6" name="Text 2"/>
          <p:cNvSpPr/>
          <p:nvPr/>
        </p:nvSpPr>
        <p:spPr>
          <a:xfrm>
            <a:off x="5049083" y="2864061"/>
            <a:ext cx="8681204" cy="758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Manages user interaction and incoming requests. Handles UI/API endpoints, DTOs, validation, and authentication.</a:t>
            </a:r>
            <a:endParaRPr lang="en-US" sz="1850" dirty="0"/>
          </a:p>
        </p:txBody>
      </p:sp>
      <p:sp>
        <p:nvSpPr>
          <p:cNvPr id="7" name="Shape 3"/>
          <p:cNvSpPr/>
          <p:nvPr/>
        </p:nvSpPr>
        <p:spPr>
          <a:xfrm>
            <a:off x="4871442" y="4062607"/>
            <a:ext cx="9036487" cy="15236"/>
          </a:xfrm>
          <a:prstGeom prst="roundRect">
            <a:avLst>
              <a:gd name="adj" fmla="val 2332536"/>
            </a:avLst>
          </a:prstGeom>
          <a:solidFill>
            <a:srgbClr val="BACFDD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2793" y="4107483"/>
            <a:ext cx="3292673" cy="2142005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22502" y="5011898"/>
            <a:ext cx="333137" cy="33305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872282" y="4533741"/>
            <a:ext cx="3117413" cy="389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Application Layer</a:t>
            </a:r>
            <a:endParaRPr lang="en-US" sz="2450" dirty="0"/>
          </a:p>
        </p:txBody>
      </p:sp>
      <p:sp>
        <p:nvSpPr>
          <p:cNvPr id="11" name="Text 5"/>
          <p:cNvSpPr/>
          <p:nvPr/>
        </p:nvSpPr>
        <p:spPr>
          <a:xfrm>
            <a:off x="5872282" y="5065225"/>
            <a:ext cx="7858006" cy="758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Orchestrates use cases and business workflows. Defines commands, queries, and interfaces for data persistence.</a:t>
            </a:r>
            <a:endParaRPr lang="en-US" sz="1850" dirty="0"/>
          </a:p>
        </p:txBody>
      </p:sp>
      <p:sp>
        <p:nvSpPr>
          <p:cNvPr id="12" name="Shape 6"/>
          <p:cNvSpPr/>
          <p:nvPr/>
        </p:nvSpPr>
        <p:spPr>
          <a:xfrm>
            <a:off x="5694640" y="6263772"/>
            <a:ext cx="8213288" cy="15236"/>
          </a:xfrm>
          <a:prstGeom prst="roundRect">
            <a:avLst>
              <a:gd name="adj" fmla="val 2332536"/>
            </a:avLst>
          </a:prstGeom>
          <a:solidFill>
            <a:srgbClr val="BACFDD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9714" y="6308647"/>
            <a:ext cx="4938951" cy="214200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22621" y="7213062"/>
            <a:ext cx="333137" cy="33305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695480" y="6734905"/>
            <a:ext cx="3117413" cy="389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Domain Layer</a:t>
            </a:r>
            <a:endParaRPr lang="en-US" sz="2450" dirty="0"/>
          </a:p>
        </p:txBody>
      </p:sp>
      <p:sp>
        <p:nvSpPr>
          <p:cNvPr id="16" name="Text 8"/>
          <p:cNvSpPr/>
          <p:nvPr/>
        </p:nvSpPr>
        <p:spPr>
          <a:xfrm>
            <a:off x="6695480" y="7266389"/>
            <a:ext cx="7034808" cy="758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business rules, entities, and domain logic. Pure logic, independent of technical details.</a:t>
            </a:r>
            <a:endParaRPr lang="en-US" sz="1850" dirty="0"/>
          </a:p>
        </p:txBody>
      </p:sp>
      <p:sp>
        <p:nvSpPr>
          <p:cNvPr id="17" name="Shape 9"/>
          <p:cNvSpPr/>
          <p:nvPr/>
        </p:nvSpPr>
        <p:spPr>
          <a:xfrm>
            <a:off x="6517838" y="8464936"/>
            <a:ext cx="7390090" cy="15236"/>
          </a:xfrm>
          <a:prstGeom prst="roundRect">
            <a:avLst>
              <a:gd name="adj" fmla="val 2332536"/>
            </a:avLst>
          </a:prstGeom>
          <a:solidFill>
            <a:srgbClr val="BACFDD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6516" y="8509811"/>
            <a:ext cx="6585347" cy="2142005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2502" y="9414227"/>
            <a:ext cx="333137" cy="333055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518678" y="8746569"/>
            <a:ext cx="3117413" cy="389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Infrastructure Layer</a:t>
            </a:r>
            <a:endParaRPr lang="en-US" sz="2450" dirty="0"/>
          </a:p>
        </p:txBody>
      </p:sp>
      <p:sp>
        <p:nvSpPr>
          <p:cNvPr id="21" name="Text 11"/>
          <p:cNvSpPr/>
          <p:nvPr/>
        </p:nvSpPr>
        <p:spPr>
          <a:xfrm>
            <a:off x="7518678" y="9278052"/>
            <a:ext cx="6211610" cy="1137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Provides technical implementations for interfaces. Includes data access, external APIs, logging, and security.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421" y="687060"/>
            <a:ext cx="6565106" cy="820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450"/>
              </a:lnSpc>
              <a:buNone/>
            </a:pPr>
            <a:r>
              <a:rPr lang="en-US" sz="51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System Workflow</a:t>
            </a:r>
            <a:endParaRPr lang="en-US" sz="5150" dirty="0"/>
          </a:p>
        </p:txBody>
      </p:sp>
      <p:sp>
        <p:nvSpPr>
          <p:cNvPr id="3" name="Text 1"/>
          <p:cNvSpPr/>
          <p:nvPr/>
        </p:nvSpPr>
        <p:spPr>
          <a:xfrm>
            <a:off x="698421" y="2130935"/>
            <a:ext cx="3470077" cy="410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Request Flow Explained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98421" y="2790498"/>
            <a:ext cx="6312456" cy="797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Interaction:</a:t>
            </a:r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User requests from Angular UI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98421" y="3675749"/>
            <a:ext cx="6312456" cy="797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Controller Routing:</a:t>
            </a:r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Entry point for all incoming requests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98421" y="4561000"/>
            <a:ext cx="6312456" cy="797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 Validation:</a:t>
            </a:r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JWT Authentication and Authorization verification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98421" y="5446251"/>
            <a:ext cx="6312456" cy="797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Logic Processing:</a:t>
            </a:r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Service Layer executes core business logic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98421" y="6331502"/>
            <a:ext cx="6312456" cy="797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Abstraction:</a:t>
            </a:r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Repository Layer handles data access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98421" y="7216752"/>
            <a:ext cx="6312456" cy="797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Persistence:</a:t>
            </a:r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SQL Server stores and retrieves data</a:t>
            </a:r>
            <a:endParaRPr lang="en-US" sz="19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7144" y="2162121"/>
            <a:ext cx="5320784" cy="81755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7548" y="380550"/>
            <a:ext cx="3643313" cy="4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Database Schema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387548" y="1112604"/>
            <a:ext cx="13855303" cy="22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ER diagram illustrates the structure of our database, detailing the relationships between key entities and tables. It serves as a blueprint for data organization and retrieval.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0941" y="1489702"/>
            <a:ext cx="10521910" cy="107571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366502"/>
            <a:ext cx="10098167" cy="122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50"/>
              </a:lnSpc>
              <a:buNone/>
            </a:pPr>
            <a:r>
              <a:rPr lang="en-US" sz="7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Roles &amp; Access Control</a:t>
            </a:r>
            <a:endParaRPr lang="en-US" sz="7700" dirty="0"/>
          </a:p>
        </p:txBody>
      </p:sp>
      <p:sp>
        <p:nvSpPr>
          <p:cNvPr id="3" name="Text 1"/>
          <p:cNvSpPr/>
          <p:nvPr/>
        </p:nvSpPr>
        <p:spPr>
          <a:xfrm>
            <a:off x="1456849" y="4715505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Superadmin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58309" y="5323170"/>
            <a:ext cx="4261961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Unique, full control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0270" y="4243657"/>
            <a:ext cx="4589740" cy="4588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10011" y="4137122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Admin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610011" y="4744787"/>
            <a:ext cx="4262080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approves, rejects, closes posts</a:t>
            </a:r>
            <a:endParaRPr lang="en-US" sz="2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270" y="4243657"/>
            <a:ext cx="4589740" cy="4588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151626" y="5584210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User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10151626" y="6191875"/>
            <a:ext cx="3720465" cy="129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posts, view own posts, view approved public posts</a:t>
            </a:r>
            <a:endParaRPr lang="en-US" sz="2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270" y="4243657"/>
            <a:ext cx="4589740" cy="45886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10011" y="7897861"/>
            <a:ext cx="4102775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Role-Specific Dashboards</a:t>
            </a:r>
            <a:endParaRPr lang="en-US" sz="2800" dirty="0"/>
          </a:p>
        </p:txBody>
      </p:sp>
      <p:sp>
        <p:nvSpPr>
          <p:cNvPr id="13" name="Text 8"/>
          <p:cNvSpPr/>
          <p:nvPr/>
        </p:nvSpPr>
        <p:spPr>
          <a:xfrm>
            <a:off x="9610011" y="8505526"/>
            <a:ext cx="4262080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Tailored interfaces for each role</a:t>
            </a:r>
            <a:endParaRPr lang="en-US" sz="2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270" y="4243657"/>
            <a:ext cx="4589740" cy="458861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56849" y="7102718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Audit Records</a:t>
            </a:r>
            <a:endParaRPr lang="en-US" sz="2800" dirty="0"/>
          </a:p>
        </p:txBody>
      </p:sp>
      <p:sp>
        <p:nvSpPr>
          <p:cNvPr id="16" name="Text 10"/>
          <p:cNvSpPr/>
          <p:nvPr/>
        </p:nvSpPr>
        <p:spPr>
          <a:xfrm>
            <a:off x="758309" y="7710384"/>
            <a:ext cx="4261961" cy="86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role changes and account activation/deactivation</a:t>
            </a:r>
            <a:endParaRPr lang="en-US" sz="2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0270" y="4243657"/>
            <a:ext cx="4589740" cy="4588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364122"/>
            <a:ext cx="12157472" cy="122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50"/>
              </a:lnSpc>
              <a:buNone/>
            </a:pPr>
            <a:r>
              <a:rPr lang="en-US" sz="7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Post Workflow Management</a:t>
            </a:r>
            <a:endParaRPr lang="en-US" sz="7700" dirty="0"/>
          </a:p>
        </p:txBody>
      </p:sp>
      <p:sp>
        <p:nvSpPr>
          <p:cNvPr id="3" name="Text 1"/>
          <p:cNvSpPr/>
          <p:nvPr/>
        </p:nvSpPr>
        <p:spPr>
          <a:xfrm>
            <a:off x="758309" y="3134743"/>
            <a:ext cx="13113782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Consistent status lifecycle for all posts.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3872630"/>
            <a:ext cx="6556891" cy="10829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9057" y="5226277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DRAFT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029057" y="5833942"/>
            <a:ext cx="6015395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Initial creation</a:t>
            </a:r>
            <a:endParaRPr lang="en-US" sz="2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872630"/>
            <a:ext cx="6556891" cy="10829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85948" y="5226277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PENDING APPROVAL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7585948" y="5833942"/>
            <a:ext cx="6015395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Submitted by User. </a:t>
            </a:r>
            <a:endParaRPr lang="en-US" sz="2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6537905"/>
            <a:ext cx="6556891" cy="108296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9057" y="7891552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APPROVED</a:t>
            </a:r>
            <a:endParaRPr lang="en-US" sz="2800" dirty="0"/>
          </a:p>
        </p:txBody>
      </p:sp>
      <p:sp>
        <p:nvSpPr>
          <p:cNvPr id="12" name="Text 7"/>
          <p:cNvSpPr/>
          <p:nvPr/>
        </p:nvSpPr>
        <p:spPr>
          <a:xfrm>
            <a:off x="1029057" y="8499217"/>
            <a:ext cx="6015395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Admin/Superadmin</a:t>
            </a:r>
            <a:endParaRPr lang="en-US" sz="2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6537905"/>
            <a:ext cx="6556891" cy="108296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85948" y="7891552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CLOSED/RESOLVED</a:t>
            </a:r>
            <a:endParaRPr lang="en-US" sz="2800" dirty="0"/>
          </a:p>
        </p:txBody>
      </p:sp>
      <p:sp>
        <p:nvSpPr>
          <p:cNvPr id="15" name="Text 9"/>
          <p:cNvSpPr/>
          <p:nvPr/>
        </p:nvSpPr>
        <p:spPr>
          <a:xfrm>
            <a:off x="7585948" y="8499217"/>
            <a:ext cx="6015395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Admin/Superadmin</a:t>
            </a:r>
            <a:endParaRPr lang="en-US" sz="2100" dirty="0"/>
          </a:p>
        </p:txBody>
      </p:sp>
      <p:sp>
        <p:nvSpPr>
          <p:cNvPr id="16" name="Text 10"/>
          <p:cNvSpPr/>
          <p:nvPr/>
        </p:nvSpPr>
        <p:spPr>
          <a:xfrm>
            <a:off x="758309" y="9507787"/>
            <a:ext cx="13113782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010" y="759909"/>
            <a:ext cx="8418552" cy="1052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6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API Endpoints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7299960" y="2275441"/>
            <a:ext cx="30480" cy="8269959"/>
          </a:xfrm>
          <a:prstGeom prst="roundRect">
            <a:avLst>
              <a:gd name="adj" fmla="val 1140837"/>
            </a:avLst>
          </a:prstGeom>
          <a:solidFill>
            <a:srgbClr val="BACFDD"/>
          </a:solidFill>
          <a:ln/>
        </p:spPr>
      </p:sp>
      <p:sp>
        <p:nvSpPr>
          <p:cNvPr id="4" name="Shape 2"/>
          <p:cNvSpPr/>
          <p:nvPr/>
        </p:nvSpPr>
        <p:spPr>
          <a:xfrm>
            <a:off x="6882051" y="2520888"/>
            <a:ext cx="463629" cy="30473"/>
          </a:xfrm>
          <a:prstGeom prst="roundRect">
            <a:avLst>
              <a:gd name="adj" fmla="val 1141099"/>
            </a:avLst>
          </a:prstGeom>
          <a:solidFill>
            <a:srgbClr val="BACFD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8284" y="2449230"/>
            <a:ext cx="173831" cy="1737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337798" y="2355074"/>
            <a:ext cx="3050143" cy="38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Authentication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9010" y="2875250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/auth/register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9010" y="3342337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/auth/login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284720" y="3911435"/>
            <a:ext cx="463629" cy="30473"/>
          </a:xfrm>
          <a:prstGeom prst="roundRect">
            <a:avLst>
              <a:gd name="adj" fmla="val 1141099"/>
            </a:avLst>
          </a:prstGeom>
          <a:solidFill>
            <a:srgbClr val="BACFD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284" y="3839777"/>
            <a:ext cx="173831" cy="17378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42459" y="3745622"/>
            <a:ext cx="3423642" cy="38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User/Admin Management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8242459" y="4265797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/api/admin/users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8242459" y="4732884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/api/admin/users/{userid}/suspend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242459" y="5199971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/api/admin/users/{userid}/reinstate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8242459" y="5667058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/api/admin/users/{userid}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8242459" y="6134144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/api/admin/users/{userid}/promote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8242459" y="6601231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/api/admin/users/{userid}/demote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882051" y="5803827"/>
            <a:ext cx="463629" cy="30473"/>
          </a:xfrm>
          <a:prstGeom prst="roundRect">
            <a:avLst>
              <a:gd name="adj" fmla="val 1141099"/>
            </a:avLst>
          </a:prstGeom>
          <a:solidFill>
            <a:srgbClr val="BACFD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284" y="5732169"/>
            <a:ext cx="173831" cy="17378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337798" y="5638013"/>
            <a:ext cx="3050143" cy="38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Posts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649010" y="6158189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/api/posts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49010" y="6625276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/api/Posts/{id}/submit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49010" y="7092363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/api/Posts/{id}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649010" y="7559449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/api/Posts/{id}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649010" y="8026536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/api/Posts/{id}/approve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649010" y="8493623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/api/Posts/{id}/reject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649010" y="8960710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/api/Posts/{id}/close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7284720" y="7929762"/>
            <a:ext cx="463629" cy="30473"/>
          </a:xfrm>
          <a:prstGeom prst="roundRect">
            <a:avLst>
              <a:gd name="adj" fmla="val 1141099"/>
            </a:avLst>
          </a:prstGeom>
          <a:solidFill>
            <a:srgbClr val="BACFDD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284" y="7858104"/>
            <a:ext cx="173831" cy="173789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242459" y="7763949"/>
            <a:ext cx="3050143" cy="38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Comments</a:t>
            </a:r>
            <a:endParaRPr lang="en-US" sz="2400" dirty="0"/>
          </a:p>
        </p:txBody>
      </p:sp>
      <p:sp>
        <p:nvSpPr>
          <p:cNvPr id="31" name="Text 25"/>
          <p:cNvSpPr/>
          <p:nvPr/>
        </p:nvSpPr>
        <p:spPr>
          <a:xfrm>
            <a:off x="8242459" y="8284124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/api/Posts/{postId}/comments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8242459" y="8751211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/api/Posts/{postId}/comments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9372" y="760623"/>
            <a:ext cx="9292947" cy="809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350"/>
              </a:lnSpc>
              <a:buNone/>
            </a:pPr>
            <a:r>
              <a:rPr lang="en-US" sz="5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Project Development Challenges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689372" y="2062609"/>
            <a:ext cx="13251656" cy="1499463"/>
          </a:xfrm>
          <a:prstGeom prst="roundRect">
            <a:avLst>
              <a:gd name="adj" fmla="val 2463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9852" y="2093082"/>
            <a:ext cx="984885" cy="1438518"/>
          </a:xfrm>
          <a:prstGeom prst="roundRect">
            <a:avLst>
              <a:gd name="adj" fmla="val 33788"/>
            </a:avLst>
          </a:prstGeom>
          <a:solidFill>
            <a:srgbClr val="D4E9F7"/>
          </a:solidFill>
          <a:ln/>
        </p:spPr>
      </p:sp>
      <p:sp>
        <p:nvSpPr>
          <p:cNvPr id="5" name="Text 3"/>
          <p:cNvSpPr/>
          <p:nvPr/>
        </p:nvSpPr>
        <p:spPr>
          <a:xfrm>
            <a:off x="1950958" y="2339243"/>
            <a:ext cx="6105882" cy="404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Requirement Gathering and Understanding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950958" y="2891677"/>
            <a:ext cx="11713369" cy="393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Evolving and unclear requirements making it difficult to map real workflows accurately.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89372" y="3808233"/>
            <a:ext cx="13251656" cy="1499463"/>
          </a:xfrm>
          <a:prstGeom prst="roundRect">
            <a:avLst>
              <a:gd name="adj" fmla="val 2463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9852" y="3838706"/>
            <a:ext cx="984885" cy="1438518"/>
          </a:xfrm>
          <a:prstGeom prst="roundRect">
            <a:avLst>
              <a:gd name="adj" fmla="val 33788"/>
            </a:avLst>
          </a:prstGeom>
          <a:solidFill>
            <a:srgbClr val="D4E9F7"/>
          </a:solidFill>
          <a:ln/>
        </p:spPr>
      </p:sp>
      <p:sp>
        <p:nvSpPr>
          <p:cNvPr id="9" name="Text 7"/>
          <p:cNvSpPr/>
          <p:nvPr/>
        </p:nvSpPr>
        <p:spPr>
          <a:xfrm>
            <a:off x="1950958" y="4084867"/>
            <a:ext cx="3239929" cy="404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API Integration Issues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950958" y="4637300"/>
            <a:ext cx="11713369" cy="393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Syncing API changes with UI changes.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89372" y="5553857"/>
            <a:ext cx="13251656" cy="1499463"/>
          </a:xfrm>
          <a:prstGeom prst="roundRect">
            <a:avLst>
              <a:gd name="adj" fmla="val 2463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9852" y="5584329"/>
            <a:ext cx="984885" cy="1438518"/>
          </a:xfrm>
          <a:prstGeom prst="roundRect">
            <a:avLst>
              <a:gd name="adj" fmla="val 33788"/>
            </a:avLst>
          </a:prstGeom>
          <a:solidFill>
            <a:srgbClr val="D4E9F7"/>
          </a:solidFill>
          <a:ln/>
        </p:spPr>
      </p:sp>
      <p:sp>
        <p:nvSpPr>
          <p:cNvPr id="13" name="Text 11"/>
          <p:cNvSpPr/>
          <p:nvPr/>
        </p:nvSpPr>
        <p:spPr>
          <a:xfrm>
            <a:off x="1950958" y="5830490"/>
            <a:ext cx="4428053" cy="404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Database Modelling Challenges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950958" y="6382924"/>
            <a:ext cx="11713369" cy="393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Designing stable data relationships while maintaining integrity and managing migrations.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89372" y="7299481"/>
            <a:ext cx="13251656" cy="1499463"/>
          </a:xfrm>
          <a:prstGeom prst="roundRect">
            <a:avLst>
              <a:gd name="adj" fmla="val 2463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9852" y="7329953"/>
            <a:ext cx="984885" cy="1438518"/>
          </a:xfrm>
          <a:prstGeom prst="roundRect">
            <a:avLst>
              <a:gd name="adj" fmla="val 33788"/>
            </a:avLst>
          </a:prstGeom>
          <a:solidFill>
            <a:srgbClr val="D4E9F7"/>
          </a:solidFill>
          <a:ln/>
        </p:spPr>
      </p:sp>
      <p:sp>
        <p:nvSpPr>
          <p:cNvPr id="17" name="Text 15"/>
          <p:cNvSpPr/>
          <p:nvPr/>
        </p:nvSpPr>
        <p:spPr>
          <a:xfrm>
            <a:off x="1950958" y="7576114"/>
            <a:ext cx="4488894" cy="404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Entity Framework Complexities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950958" y="8128548"/>
            <a:ext cx="11713369" cy="393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Managing data loading, query optimization, and complex relational structures.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89372" y="9045104"/>
            <a:ext cx="13251656" cy="1499463"/>
          </a:xfrm>
          <a:prstGeom prst="roundRect">
            <a:avLst>
              <a:gd name="adj" fmla="val 2463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9852" y="9075577"/>
            <a:ext cx="984885" cy="1438518"/>
          </a:xfrm>
          <a:prstGeom prst="roundRect">
            <a:avLst>
              <a:gd name="adj" fmla="val 33788"/>
            </a:avLst>
          </a:prstGeom>
          <a:solidFill>
            <a:srgbClr val="D4E9F7"/>
          </a:solidFill>
          <a:ln/>
        </p:spPr>
      </p:sp>
      <p:sp>
        <p:nvSpPr>
          <p:cNvPr id="21" name="Text 19"/>
          <p:cNvSpPr/>
          <p:nvPr/>
        </p:nvSpPr>
        <p:spPr>
          <a:xfrm>
            <a:off x="1950958" y="9321738"/>
            <a:ext cx="5201722" cy="404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JWT Authentication &amp; Authorization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950958" y="9874171"/>
            <a:ext cx="11713369" cy="393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Managing JWT setup, token expiry, and secure role-based access.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104748"/>
            <a:ext cx="13113782" cy="245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50"/>
              </a:lnSpc>
              <a:buNone/>
            </a:pPr>
            <a:r>
              <a:rPr lang="en-US" sz="7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Upcoming System Enhancements</a:t>
            </a:r>
            <a:endParaRPr lang="en-US" sz="7700" dirty="0"/>
          </a:p>
        </p:txBody>
      </p:sp>
      <p:sp>
        <p:nvSpPr>
          <p:cNvPr id="3" name="Shape 1"/>
          <p:cNvSpPr/>
          <p:nvPr/>
        </p:nvSpPr>
        <p:spPr>
          <a:xfrm>
            <a:off x="758309" y="4104507"/>
            <a:ext cx="4190762" cy="3345908"/>
          </a:xfrm>
          <a:prstGeom prst="roundRect">
            <a:avLst>
              <a:gd name="adj" fmla="val 12141"/>
            </a:avLst>
          </a:prstGeom>
          <a:solidFill>
            <a:srgbClr val="D4E9F7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4297" y="4390425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Password Reset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44297" y="4998090"/>
            <a:ext cx="3618786" cy="2166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Users can reset their password to a secure default for account recovery, streamlining access.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219819" y="4104507"/>
            <a:ext cx="4190762" cy="3345908"/>
          </a:xfrm>
          <a:prstGeom prst="roundRect">
            <a:avLst>
              <a:gd name="adj" fmla="val 12141"/>
            </a:avLst>
          </a:prstGeom>
          <a:solidFill>
            <a:srgbClr val="D4E9F7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05807" y="4390425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Advanced Post Search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505807" y="4998090"/>
            <a:ext cx="3618786" cy="1733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Enhanced filtering by status, type, date, creator, title, description, or post ID for all roles.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681329" y="4104507"/>
            <a:ext cx="4190762" cy="3345908"/>
          </a:xfrm>
          <a:prstGeom prst="roundRect">
            <a:avLst>
              <a:gd name="adj" fmla="val 12141"/>
            </a:avLst>
          </a:prstGeom>
          <a:solidFill>
            <a:srgbClr val="D4E9F7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7317" y="4390425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Comment Ownership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967317" y="4998090"/>
            <a:ext cx="3618786" cy="1733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Empowering users to manage their own contributions by editing or deleting their comments.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58309" y="7721097"/>
            <a:ext cx="6421517" cy="2479345"/>
          </a:xfrm>
          <a:prstGeom prst="roundRect">
            <a:avLst>
              <a:gd name="adj" fmla="val 16385"/>
            </a:avLst>
          </a:prstGeom>
          <a:solidFill>
            <a:srgbClr val="D4E9F7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4297" y="8007015"/>
            <a:ext cx="4530685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Category-Based Assignment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44297" y="8614680"/>
            <a:ext cx="5849541" cy="129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 post assignment to relevant admins based on predefined post categories.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450574" y="7721097"/>
            <a:ext cx="6421517" cy="2479345"/>
          </a:xfrm>
          <a:prstGeom prst="roundRect">
            <a:avLst>
              <a:gd name="adj" fmla="val 16385"/>
            </a:avLst>
          </a:prstGeom>
          <a:solidFill>
            <a:srgbClr val="D4E9F7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36562" y="8007015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CI/CD &amp; Dockerization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736562" y="8614680"/>
            <a:ext cx="5849541" cy="129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Implementing continuous integration, delivery, and containerization for robust deployment.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428"/>
            <a:ext cx="5760720" cy="113024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921077"/>
            <a:ext cx="7126962" cy="890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5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Conclusion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758309" y="5217826"/>
            <a:ext cx="7627382" cy="2166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Post/Issue Management System delivers a robust, user-friendly platform with a scalable microservices architecture, streamlining content creation, advanced search, and collaborative issue tracking for efficient operations and continuous improvement.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428"/>
            <a:ext cx="5760720" cy="113024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524577"/>
            <a:ext cx="7627382" cy="1781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0"/>
              </a:lnSpc>
              <a:buNone/>
            </a:pPr>
            <a:r>
              <a:rPr lang="en-US" sz="1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Thank You!</a:t>
            </a:r>
            <a:endParaRPr lang="en-US" sz="11200" dirty="0"/>
          </a:p>
        </p:txBody>
      </p:sp>
      <p:sp>
        <p:nvSpPr>
          <p:cNvPr id="4" name="Text 1"/>
          <p:cNvSpPr/>
          <p:nvPr/>
        </p:nvSpPr>
        <p:spPr>
          <a:xfrm>
            <a:off x="758309" y="5712052"/>
            <a:ext cx="7627382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Appreciated your time and attention.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58309" y="6551475"/>
            <a:ext cx="7627382" cy="122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50"/>
              </a:lnSpc>
              <a:buNone/>
            </a:pPr>
            <a:r>
              <a:rPr lang="en-US" sz="7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Any Questions?</a:t>
            </a:r>
            <a:endParaRPr lang="en-US" sz="7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2025-12-08T07:39:58Z</dcterms:created>
  <dcterms:modified xsi:type="dcterms:W3CDTF">2025-12-08T07:39:58Z</dcterms:modified>
</cp:coreProperties>
</file>