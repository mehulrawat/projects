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arlow Bold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</p:embeddedFont>
    <p:embeddedFont>
      <p:font typeface="Montserrat Bold" panose="00000800000000000000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4199949" y="9875055"/>
            <a:ext cx="1571402" cy="375362"/>
            <a:chOff x="0" y="0"/>
            <a:chExt cx="1583042" cy="37814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1583055" cy="378079"/>
            </a:xfrm>
            <a:custGeom>
              <a:avLst/>
              <a:gdLst/>
              <a:ahLst/>
              <a:cxnLst/>
              <a:rect l="l" t="t" r="r" b="b"/>
              <a:pathLst>
                <a:path w="1583055" h="378079">
                  <a:moveTo>
                    <a:pt x="0" y="0"/>
                  </a:moveTo>
                  <a:lnTo>
                    <a:pt x="1583055" y="0"/>
                  </a:lnTo>
                  <a:lnTo>
                    <a:pt x="1583055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578843" y="1303"/>
            <a:ext cx="5255069" cy="10310371"/>
            <a:chOff x="0" y="0"/>
            <a:chExt cx="5293995" cy="1038674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5293995" cy="10386695"/>
            </a:xfrm>
            <a:custGeom>
              <a:avLst/>
              <a:gdLst/>
              <a:ahLst/>
              <a:cxnLst/>
              <a:rect l="l" t="t" r="r" b="b"/>
              <a:pathLst>
                <a:path w="5293995" h="10386695">
                  <a:moveTo>
                    <a:pt x="0" y="0"/>
                  </a:moveTo>
                  <a:lnTo>
                    <a:pt x="5293995" y="0"/>
                  </a:lnTo>
                  <a:lnTo>
                    <a:pt x="5293995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" b="-2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179454" y="3942134"/>
            <a:ext cx="7564746" cy="1659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Post/Issue Management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9454" y="5870818"/>
            <a:ext cx="6957883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1915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4729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4729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179453" y="2856740"/>
            <a:ext cx="11962735" cy="1084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2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Project Overview &amp; Purpose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172503" y="4503092"/>
            <a:ext cx="3836817" cy="2275621"/>
            <a:chOff x="0" y="0"/>
            <a:chExt cx="3865238" cy="2292477"/>
          </a:xfrm>
        </p:grpSpPr>
        <p:sp>
          <p:nvSpPr>
            <p:cNvPr id="8" name="Freeform 8"/>
            <p:cNvSpPr/>
            <p:nvPr/>
          </p:nvSpPr>
          <p:spPr>
            <a:xfrm>
              <a:off x="6985" y="6985"/>
              <a:ext cx="3851275" cy="2278507"/>
            </a:xfrm>
            <a:custGeom>
              <a:avLst/>
              <a:gdLst/>
              <a:ahLst/>
              <a:cxnLst/>
              <a:rect l="l" t="t" r="r" b="b"/>
              <a:pathLst>
                <a:path w="3851275" h="2278507">
                  <a:moveTo>
                    <a:pt x="0" y="373380"/>
                  </a:moveTo>
                  <a:cubicBezTo>
                    <a:pt x="0" y="167132"/>
                    <a:pt x="167640" y="0"/>
                    <a:pt x="374269" y="0"/>
                  </a:cubicBezTo>
                  <a:lnTo>
                    <a:pt x="3477006" y="0"/>
                  </a:lnTo>
                  <a:cubicBezTo>
                    <a:pt x="3683762" y="0"/>
                    <a:pt x="3851275" y="167132"/>
                    <a:pt x="3851275" y="373380"/>
                  </a:cubicBezTo>
                  <a:lnTo>
                    <a:pt x="3851275" y="1905127"/>
                  </a:lnTo>
                  <a:cubicBezTo>
                    <a:pt x="3851275" y="2111248"/>
                    <a:pt x="3683762" y="2278507"/>
                    <a:pt x="3477006" y="2278507"/>
                  </a:cubicBezTo>
                  <a:lnTo>
                    <a:pt x="374269" y="2278507"/>
                  </a:lnTo>
                  <a:cubicBezTo>
                    <a:pt x="167640" y="2278507"/>
                    <a:pt x="0" y="2111375"/>
                    <a:pt x="0" y="1905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3865245" cy="2292477"/>
            </a:xfrm>
            <a:custGeom>
              <a:avLst/>
              <a:gdLst/>
              <a:ahLst/>
              <a:cxnLst/>
              <a:rect l="l" t="t" r="r" b="b"/>
              <a:pathLst>
                <a:path w="3865245" h="2292477">
                  <a:moveTo>
                    <a:pt x="0" y="380365"/>
                  </a:moveTo>
                  <a:cubicBezTo>
                    <a:pt x="0" y="170307"/>
                    <a:pt x="170688" y="0"/>
                    <a:pt x="381254" y="0"/>
                  </a:cubicBezTo>
                  <a:lnTo>
                    <a:pt x="3483991" y="0"/>
                  </a:lnTo>
                  <a:lnTo>
                    <a:pt x="3483991" y="6985"/>
                  </a:lnTo>
                  <a:lnTo>
                    <a:pt x="3483991" y="0"/>
                  </a:lnTo>
                  <a:cubicBezTo>
                    <a:pt x="3694557" y="0"/>
                    <a:pt x="3865245" y="170307"/>
                    <a:pt x="3865245" y="380365"/>
                  </a:cubicBezTo>
                  <a:lnTo>
                    <a:pt x="3858260" y="380365"/>
                  </a:lnTo>
                  <a:lnTo>
                    <a:pt x="3865245" y="380365"/>
                  </a:lnTo>
                  <a:lnTo>
                    <a:pt x="3865245" y="1912112"/>
                  </a:lnTo>
                  <a:lnTo>
                    <a:pt x="3858260" y="1912112"/>
                  </a:lnTo>
                  <a:lnTo>
                    <a:pt x="3865245" y="1912112"/>
                  </a:lnTo>
                  <a:cubicBezTo>
                    <a:pt x="3865245" y="2122170"/>
                    <a:pt x="3694557" y="2292477"/>
                    <a:pt x="3483991" y="2292477"/>
                  </a:cubicBezTo>
                  <a:lnTo>
                    <a:pt x="3483991" y="2285492"/>
                  </a:lnTo>
                  <a:lnTo>
                    <a:pt x="3483991" y="2292477"/>
                  </a:lnTo>
                  <a:lnTo>
                    <a:pt x="381254" y="2292477"/>
                  </a:lnTo>
                  <a:lnTo>
                    <a:pt x="381254" y="2285492"/>
                  </a:lnTo>
                  <a:lnTo>
                    <a:pt x="381254" y="2292477"/>
                  </a:lnTo>
                  <a:cubicBezTo>
                    <a:pt x="170688" y="2292477"/>
                    <a:pt x="0" y="2122170"/>
                    <a:pt x="0" y="1912112"/>
                  </a:cubicBezTo>
                  <a:lnTo>
                    <a:pt x="0" y="380365"/>
                  </a:lnTo>
                  <a:lnTo>
                    <a:pt x="6985" y="380365"/>
                  </a:lnTo>
                  <a:lnTo>
                    <a:pt x="0" y="380365"/>
                  </a:lnTo>
                  <a:moveTo>
                    <a:pt x="13970" y="380365"/>
                  </a:moveTo>
                  <a:lnTo>
                    <a:pt x="13970" y="1912112"/>
                  </a:lnTo>
                  <a:lnTo>
                    <a:pt x="6985" y="1912112"/>
                  </a:lnTo>
                  <a:lnTo>
                    <a:pt x="13970" y="1912112"/>
                  </a:lnTo>
                  <a:cubicBezTo>
                    <a:pt x="13970" y="2114423"/>
                    <a:pt x="178435" y="2278380"/>
                    <a:pt x="381254" y="2278380"/>
                  </a:cubicBezTo>
                  <a:lnTo>
                    <a:pt x="3483991" y="2278380"/>
                  </a:lnTo>
                  <a:cubicBezTo>
                    <a:pt x="3686810" y="2278380"/>
                    <a:pt x="3851275" y="2114296"/>
                    <a:pt x="3851275" y="1912112"/>
                  </a:cubicBezTo>
                  <a:lnTo>
                    <a:pt x="3851275" y="380365"/>
                  </a:lnTo>
                  <a:cubicBezTo>
                    <a:pt x="3851275" y="178054"/>
                    <a:pt x="3686810" y="14097"/>
                    <a:pt x="3483991" y="14097"/>
                  </a:cubicBezTo>
                  <a:lnTo>
                    <a:pt x="381254" y="14097"/>
                  </a:lnTo>
                  <a:lnTo>
                    <a:pt x="381254" y="6985"/>
                  </a:lnTo>
                  <a:lnTo>
                    <a:pt x="381254" y="13970"/>
                  </a:lnTo>
                  <a:cubicBezTo>
                    <a:pt x="178435" y="13970"/>
                    <a:pt x="13970" y="178054"/>
                    <a:pt x="13970" y="38036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3440339" y="4761339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Issue Tracking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40339" y="5239466"/>
            <a:ext cx="3301144" cy="115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Efficiently log and manage problems like "broken office furniture."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242400" y="4503092"/>
            <a:ext cx="3836817" cy="2275621"/>
            <a:chOff x="0" y="0"/>
            <a:chExt cx="3865238" cy="2292477"/>
          </a:xfrm>
        </p:grpSpPr>
        <p:sp>
          <p:nvSpPr>
            <p:cNvPr id="13" name="Freeform 13"/>
            <p:cNvSpPr/>
            <p:nvPr/>
          </p:nvSpPr>
          <p:spPr>
            <a:xfrm>
              <a:off x="6985" y="6985"/>
              <a:ext cx="3851275" cy="2278507"/>
            </a:xfrm>
            <a:custGeom>
              <a:avLst/>
              <a:gdLst/>
              <a:ahLst/>
              <a:cxnLst/>
              <a:rect l="l" t="t" r="r" b="b"/>
              <a:pathLst>
                <a:path w="3851275" h="2278507">
                  <a:moveTo>
                    <a:pt x="0" y="373380"/>
                  </a:moveTo>
                  <a:cubicBezTo>
                    <a:pt x="0" y="167132"/>
                    <a:pt x="167640" y="0"/>
                    <a:pt x="374269" y="0"/>
                  </a:cubicBezTo>
                  <a:lnTo>
                    <a:pt x="3477006" y="0"/>
                  </a:lnTo>
                  <a:cubicBezTo>
                    <a:pt x="3683762" y="0"/>
                    <a:pt x="3851275" y="167132"/>
                    <a:pt x="3851275" y="373380"/>
                  </a:cubicBezTo>
                  <a:lnTo>
                    <a:pt x="3851275" y="1905127"/>
                  </a:lnTo>
                  <a:cubicBezTo>
                    <a:pt x="3851275" y="2111248"/>
                    <a:pt x="3683762" y="2278507"/>
                    <a:pt x="3477006" y="2278507"/>
                  </a:cubicBezTo>
                  <a:lnTo>
                    <a:pt x="374269" y="2278507"/>
                  </a:lnTo>
                  <a:cubicBezTo>
                    <a:pt x="167640" y="2278507"/>
                    <a:pt x="0" y="2111375"/>
                    <a:pt x="0" y="1905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865245" cy="2292477"/>
            </a:xfrm>
            <a:custGeom>
              <a:avLst/>
              <a:gdLst/>
              <a:ahLst/>
              <a:cxnLst/>
              <a:rect l="l" t="t" r="r" b="b"/>
              <a:pathLst>
                <a:path w="3865245" h="2292477">
                  <a:moveTo>
                    <a:pt x="0" y="380365"/>
                  </a:moveTo>
                  <a:cubicBezTo>
                    <a:pt x="0" y="170307"/>
                    <a:pt x="170688" y="0"/>
                    <a:pt x="381254" y="0"/>
                  </a:cubicBezTo>
                  <a:lnTo>
                    <a:pt x="3483991" y="0"/>
                  </a:lnTo>
                  <a:lnTo>
                    <a:pt x="3483991" y="6985"/>
                  </a:lnTo>
                  <a:lnTo>
                    <a:pt x="3483991" y="0"/>
                  </a:lnTo>
                  <a:cubicBezTo>
                    <a:pt x="3694557" y="0"/>
                    <a:pt x="3865245" y="170307"/>
                    <a:pt x="3865245" y="380365"/>
                  </a:cubicBezTo>
                  <a:lnTo>
                    <a:pt x="3858260" y="380365"/>
                  </a:lnTo>
                  <a:lnTo>
                    <a:pt x="3865245" y="380365"/>
                  </a:lnTo>
                  <a:lnTo>
                    <a:pt x="3865245" y="1912112"/>
                  </a:lnTo>
                  <a:lnTo>
                    <a:pt x="3858260" y="1912112"/>
                  </a:lnTo>
                  <a:lnTo>
                    <a:pt x="3865245" y="1912112"/>
                  </a:lnTo>
                  <a:cubicBezTo>
                    <a:pt x="3865245" y="2122170"/>
                    <a:pt x="3694557" y="2292477"/>
                    <a:pt x="3483991" y="2292477"/>
                  </a:cubicBezTo>
                  <a:lnTo>
                    <a:pt x="3483991" y="2285492"/>
                  </a:lnTo>
                  <a:lnTo>
                    <a:pt x="3483991" y="2292477"/>
                  </a:lnTo>
                  <a:lnTo>
                    <a:pt x="381254" y="2292477"/>
                  </a:lnTo>
                  <a:lnTo>
                    <a:pt x="381254" y="2285492"/>
                  </a:lnTo>
                  <a:lnTo>
                    <a:pt x="381254" y="2292477"/>
                  </a:lnTo>
                  <a:cubicBezTo>
                    <a:pt x="170688" y="2292477"/>
                    <a:pt x="0" y="2122170"/>
                    <a:pt x="0" y="1912112"/>
                  </a:cubicBezTo>
                  <a:lnTo>
                    <a:pt x="0" y="380365"/>
                  </a:lnTo>
                  <a:lnTo>
                    <a:pt x="6985" y="380365"/>
                  </a:lnTo>
                  <a:lnTo>
                    <a:pt x="0" y="380365"/>
                  </a:lnTo>
                  <a:moveTo>
                    <a:pt x="13970" y="380365"/>
                  </a:moveTo>
                  <a:lnTo>
                    <a:pt x="13970" y="1912112"/>
                  </a:lnTo>
                  <a:lnTo>
                    <a:pt x="6985" y="1912112"/>
                  </a:lnTo>
                  <a:lnTo>
                    <a:pt x="13970" y="1912112"/>
                  </a:lnTo>
                  <a:cubicBezTo>
                    <a:pt x="13970" y="2114423"/>
                    <a:pt x="178435" y="2278380"/>
                    <a:pt x="381254" y="2278380"/>
                  </a:cubicBezTo>
                  <a:lnTo>
                    <a:pt x="3483991" y="2278380"/>
                  </a:lnTo>
                  <a:cubicBezTo>
                    <a:pt x="3686810" y="2278380"/>
                    <a:pt x="3851275" y="2114296"/>
                    <a:pt x="3851275" y="1912112"/>
                  </a:cubicBezTo>
                  <a:lnTo>
                    <a:pt x="3851275" y="380365"/>
                  </a:lnTo>
                  <a:cubicBezTo>
                    <a:pt x="3851275" y="178054"/>
                    <a:pt x="3686810" y="14097"/>
                    <a:pt x="3483991" y="14097"/>
                  </a:cubicBezTo>
                  <a:lnTo>
                    <a:pt x="381254" y="14097"/>
                  </a:lnTo>
                  <a:lnTo>
                    <a:pt x="381254" y="6985"/>
                  </a:lnTo>
                  <a:lnTo>
                    <a:pt x="381254" y="13970"/>
                  </a:lnTo>
                  <a:cubicBezTo>
                    <a:pt x="178435" y="13970"/>
                    <a:pt x="13970" y="178054"/>
                    <a:pt x="13970" y="38036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7510237" y="4761339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Complaint Handling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0237" y="5239466"/>
            <a:ext cx="3301144" cy="115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Address concerns such as "unhygienic canteen food" systematically.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312298" y="4503092"/>
            <a:ext cx="3836817" cy="2275621"/>
            <a:chOff x="0" y="0"/>
            <a:chExt cx="3865238" cy="2292477"/>
          </a:xfrm>
        </p:grpSpPr>
        <p:sp>
          <p:nvSpPr>
            <p:cNvPr id="18" name="Freeform 18"/>
            <p:cNvSpPr/>
            <p:nvPr/>
          </p:nvSpPr>
          <p:spPr>
            <a:xfrm>
              <a:off x="6985" y="6985"/>
              <a:ext cx="3851275" cy="2278507"/>
            </a:xfrm>
            <a:custGeom>
              <a:avLst/>
              <a:gdLst/>
              <a:ahLst/>
              <a:cxnLst/>
              <a:rect l="l" t="t" r="r" b="b"/>
              <a:pathLst>
                <a:path w="3851275" h="2278507">
                  <a:moveTo>
                    <a:pt x="0" y="373380"/>
                  </a:moveTo>
                  <a:cubicBezTo>
                    <a:pt x="0" y="167132"/>
                    <a:pt x="167640" y="0"/>
                    <a:pt x="374269" y="0"/>
                  </a:cubicBezTo>
                  <a:lnTo>
                    <a:pt x="3477006" y="0"/>
                  </a:lnTo>
                  <a:cubicBezTo>
                    <a:pt x="3683762" y="0"/>
                    <a:pt x="3851275" y="167132"/>
                    <a:pt x="3851275" y="373380"/>
                  </a:cubicBezTo>
                  <a:lnTo>
                    <a:pt x="3851275" y="1905127"/>
                  </a:lnTo>
                  <a:cubicBezTo>
                    <a:pt x="3851275" y="2111248"/>
                    <a:pt x="3683762" y="2278507"/>
                    <a:pt x="3477006" y="2278507"/>
                  </a:cubicBezTo>
                  <a:lnTo>
                    <a:pt x="374269" y="2278507"/>
                  </a:lnTo>
                  <a:cubicBezTo>
                    <a:pt x="167640" y="2278507"/>
                    <a:pt x="0" y="2111375"/>
                    <a:pt x="0" y="1905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3865245" cy="2292477"/>
            </a:xfrm>
            <a:custGeom>
              <a:avLst/>
              <a:gdLst/>
              <a:ahLst/>
              <a:cxnLst/>
              <a:rect l="l" t="t" r="r" b="b"/>
              <a:pathLst>
                <a:path w="3865245" h="2292477">
                  <a:moveTo>
                    <a:pt x="0" y="380365"/>
                  </a:moveTo>
                  <a:cubicBezTo>
                    <a:pt x="0" y="170307"/>
                    <a:pt x="170688" y="0"/>
                    <a:pt x="381254" y="0"/>
                  </a:cubicBezTo>
                  <a:lnTo>
                    <a:pt x="3483991" y="0"/>
                  </a:lnTo>
                  <a:lnTo>
                    <a:pt x="3483991" y="6985"/>
                  </a:lnTo>
                  <a:lnTo>
                    <a:pt x="3483991" y="0"/>
                  </a:lnTo>
                  <a:cubicBezTo>
                    <a:pt x="3694557" y="0"/>
                    <a:pt x="3865245" y="170307"/>
                    <a:pt x="3865245" y="380365"/>
                  </a:cubicBezTo>
                  <a:lnTo>
                    <a:pt x="3858260" y="380365"/>
                  </a:lnTo>
                  <a:lnTo>
                    <a:pt x="3865245" y="380365"/>
                  </a:lnTo>
                  <a:lnTo>
                    <a:pt x="3865245" y="1912112"/>
                  </a:lnTo>
                  <a:lnTo>
                    <a:pt x="3858260" y="1912112"/>
                  </a:lnTo>
                  <a:lnTo>
                    <a:pt x="3865245" y="1912112"/>
                  </a:lnTo>
                  <a:cubicBezTo>
                    <a:pt x="3865245" y="2122170"/>
                    <a:pt x="3694557" y="2292477"/>
                    <a:pt x="3483991" y="2292477"/>
                  </a:cubicBezTo>
                  <a:lnTo>
                    <a:pt x="3483991" y="2285492"/>
                  </a:lnTo>
                  <a:lnTo>
                    <a:pt x="3483991" y="2292477"/>
                  </a:lnTo>
                  <a:lnTo>
                    <a:pt x="381254" y="2292477"/>
                  </a:lnTo>
                  <a:lnTo>
                    <a:pt x="381254" y="2285492"/>
                  </a:lnTo>
                  <a:lnTo>
                    <a:pt x="381254" y="2292477"/>
                  </a:lnTo>
                  <a:cubicBezTo>
                    <a:pt x="170688" y="2292477"/>
                    <a:pt x="0" y="2122170"/>
                    <a:pt x="0" y="1912112"/>
                  </a:cubicBezTo>
                  <a:lnTo>
                    <a:pt x="0" y="380365"/>
                  </a:lnTo>
                  <a:lnTo>
                    <a:pt x="6985" y="380365"/>
                  </a:lnTo>
                  <a:lnTo>
                    <a:pt x="0" y="380365"/>
                  </a:lnTo>
                  <a:moveTo>
                    <a:pt x="13970" y="380365"/>
                  </a:moveTo>
                  <a:lnTo>
                    <a:pt x="13970" y="1912112"/>
                  </a:lnTo>
                  <a:lnTo>
                    <a:pt x="6985" y="1912112"/>
                  </a:lnTo>
                  <a:lnTo>
                    <a:pt x="13970" y="1912112"/>
                  </a:lnTo>
                  <a:cubicBezTo>
                    <a:pt x="13970" y="2114423"/>
                    <a:pt x="178435" y="2278380"/>
                    <a:pt x="381254" y="2278380"/>
                  </a:cubicBezTo>
                  <a:lnTo>
                    <a:pt x="3483991" y="2278380"/>
                  </a:lnTo>
                  <a:cubicBezTo>
                    <a:pt x="3686810" y="2278380"/>
                    <a:pt x="3851275" y="2114296"/>
                    <a:pt x="3851275" y="1912112"/>
                  </a:cubicBezTo>
                  <a:lnTo>
                    <a:pt x="3851275" y="380365"/>
                  </a:lnTo>
                  <a:cubicBezTo>
                    <a:pt x="3851275" y="178054"/>
                    <a:pt x="3686810" y="14097"/>
                    <a:pt x="3483991" y="14097"/>
                  </a:cubicBezTo>
                  <a:lnTo>
                    <a:pt x="381254" y="14097"/>
                  </a:lnTo>
                  <a:lnTo>
                    <a:pt x="381254" y="6985"/>
                  </a:lnTo>
                  <a:lnTo>
                    <a:pt x="381254" y="13970"/>
                  </a:lnTo>
                  <a:cubicBezTo>
                    <a:pt x="178435" y="13970"/>
                    <a:pt x="13970" y="178054"/>
                    <a:pt x="13970" y="38036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580134" y="4761339"/>
            <a:ext cx="3250640" cy="38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Information Sharing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80134" y="5239466"/>
            <a:ext cx="3301144" cy="1160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Facilitate general posts like "Lost and Found" or "Need Blood."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179454" y="2708234"/>
            <a:ext cx="8971978" cy="1084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2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Technology Stack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3179454" y="4361538"/>
            <a:ext cx="741167" cy="740984"/>
          </a:xfrm>
          <a:custGeom>
            <a:avLst/>
            <a:gdLst/>
            <a:ahLst/>
            <a:cxnLst/>
            <a:rect l="l" t="t" r="r" b="b"/>
            <a:pathLst>
              <a:path w="741167" h="740984">
                <a:moveTo>
                  <a:pt x="0" y="0"/>
                </a:moveTo>
                <a:lnTo>
                  <a:pt x="741166" y="0"/>
                </a:lnTo>
                <a:lnTo>
                  <a:pt x="741166" y="740984"/>
                </a:lnTo>
                <a:lnTo>
                  <a:pt x="0" y="740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2" b="-1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29403" y="4560387"/>
            <a:ext cx="2731693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Backend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29403" y="5038514"/>
            <a:ext cx="2731693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ASP.NET Core 8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7269879" y="4361538"/>
            <a:ext cx="741167" cy="740984"/>
          </a:xfrm>
          <a:custGeom>
            <a:avLst/>
            <a:gdLst/>
            <a:ahLst/>
            <a:cxnLst/>
            <a:rect l="l" t="t" r="r" b="b"/>
            <a:pathLst>
              <a:path w="741167" h="740984">
                <a:moveTo>
                  <a:pt x="0" y="0"/>
                </a:moveTo>
                <a:lnTo>
                  <a:pt x="741167" y="0"/>
                </a:lnTo>
                <a:lnTo>
                  <a:pt x="741167" y="740984"/>
                </a:lnTo>
                <a:lnTo>
                  <a:pt x="0" y="740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555" b="-255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19828" y="4560387"/>
            <a:ext cx="2731802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Frontend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19828" y="5038514"/>
            <a:ext cx="2731802" cy="76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Angular 20.3.8, Node 24.11, npm11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1360413" y="4361538"/>
            <a:ext cx="741167" cy="740984"/>
          </a:xfrm>
          <a:custGeom>
            <a:avLst/>
            <a:gdLst/>
            <a:ahLst/>
            <a:cxnLst/>
            <a:rect l="l" t="t" r="r" b="b"/>
            <a:pathLst>
              <a:path w="741167" h="740984">
                <a:moveTo>
                  <a:pt x="0" y="0"/>
                </a:moveTo>
                <a:lnTo>
                  <a:pt x="741167" y="0"/>
                </a:lnTo>
                <a:lnTo>
                  <a:pt x="741167" y="740984"/>
                </a:lnTo>
                <a:lnTo>
                  <a:pt x="0" y="740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376" r="-337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410362" y="4560387"/>
            <a:ext cx="2731693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10362" y="5038514"/>
            <a:ext cx="2731693" cy="76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SQL Server (Code-first approach)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3179454" y="6408692"/>
            <a:ext cx="741167" cy="740984"/>
          </a:xfrm>
          <a:custGeom>
            <a:avLst/>
            <a:gdLst/>
            <a:ahLst/>
            <a:cxnLst/>
            <a:rect l="l" t="t" r="r" b="b"/>
            <a:pathLst>
              <a:path w="741167" h="740984">
                <a:moveTo>
                  <a:pt x="0" y="0"/>
                </a:moveTo>
                <a:lnTo>
                  <a:pt x="741166" y="0"/>
                </a:lnTo>
                <a:lnTo>
                  <a:pt x="741166" y="740984"/>
                </a:lnTo>
                <a:lnTo>
                  <a:pt x="0" y="7409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2" b="-12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229403" y="6607542"/>
            <a:ext cx="2731693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29403" y="7085669"/>
            <a:ext cx="2731693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Basic Auth &amp; JWT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7269879" y="6408692"/>
            <a:ext cx="741167" cy="740984"/>
          </a:xfrm>
          <a:custGeom>
            <a:avLst/>
            <a:gdLst/>
            <a:ahLst/>
            <a:cxnLst/>
            <a:rect l="l" t="t" r="r" b="b"/>
            <a:pathLst>
              <a:path w="741167" h="740984">
                <a:moveTo>
                  <a:pt x="0" y="0"/>
                </a:moveTo>
                <a:lnTo>
                  <a:pt x="741167" y="0"/>
                </a:lnTo>
                <a:lnTo>
                  <a:pt x="741167" y="740984"/>
                </a:lnTo>
                <a:lnTo>
                  <a:pt x="0" y="7409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2" b="-1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319828" y="6607542"/>
            <a:ext cx="2731802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ORM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19828" y="7085669"/>
            <a:ext cx="2731802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EF 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086"/>
            <a:ext cx="13346206" cy="10310805"/>
            <a:chOff x="0" y="0"/>
            <a:chExt cx="13445067" cy="10387182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7203"/>
            </a:xfrm>
            <a:custGeom>
              <a:avLst/>
              <a:gdLst/>
              <a:ahLst/>
              <a:cxnLst/>
              <a:rect l="l" t="t" r="r" b="b"/>
              <a:pathLst>
                <a:path w="13445110" h="10387203">
                  <a:moveTo>
                    <a:pt x="0" y="0"/>
                  </a:moveTo>
                  <a:lnTo>
                    <a:pt x="13445110" y="0"/>
                  </a:lnTo>
                  <a:lnTo>
                    <a:pt x="13445110" y="10387203"/>
                  </a:lnTo>
                  <a:lnTo>
                    <a:pt x="0" y="10387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" b="-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-45526"/>
            <a:ext cx="13346206" cy="10310805"/>
            <a:chOff x="0" y="0"/>
            <a:chExt cx="13445067" cy="103871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7203"/>
            </a:xfrm>
            <a:custGeom>
              <a:avLst/>
              <a:gdLst/>
              <a:ahLst/>
              <a:cxnLst/>
              <a:rect l="l" t="t" r="r" b="b"/>
              <a:pathLst>
                <a:path w="13445110" h="10387203">
                  <a:moveTo>
                    <a:pt x="0" y="0"/>
                  </a:moveTo>
                  <a:lnTo>
                    <a:pt x="13445110" y="0"/>
                  </a:lnTo>
                  <a:lnTo>
                    <a:pt x="13445110" y="10387203"/>
                  </a:lnTo>
                  <a:lnTo>
                    <a:pt x="0" y="1038720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819400" y="1219533"/>
            <a:ext cx="7162178" cy="790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System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48299" y="2789644"/>
            <a:ext cx="3733178" cy="360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4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Request Flow Explained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06839" y="3533436"/>
            <a:ext cx="5758376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922" lvl="1" indent="-73961" algn="l">
              <a:lnSpc>
                <a:spcPts val="2827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ea typeface="Montserrat Bold"/>
                <a:cs typeface="Montserrat Bold"/>
                <a:sym typeface="Montserrat Bold"/>
              </a:rPr>
              <a:t>Frontend Interaction:</a:t>
            </a: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 User requests from Angular UI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31874" y="4162510"/>
            <a:ext cx="5758376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922" lvl="1" indent="-73961" algn="l">
              <a:lnSpc>
                <a:spcPts val="2827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ea typeface="Montserrat Bold"/>
                <a:cs typeface="Montserrat Bold"/>
                <a:sym typeface="Montserrat Bold"/>
              </a:rPr>
              <a:t>API Controller Routing:</a:t>
            </a: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 Entry point for all incoming requests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31874" y="5175371"/>
            <a:ext cx="5758376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922" lvl="1" indent="-73961" algn="l">
              <a:lnSpc>
                <a:spcPts val="2827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ea typeface="Montserrat Bold"/>
                <a:cs typeface="Montserrat Bold"/>
                <a:sym typeface="Montserrat Bold"/>
              </a:rPr>
              <a:t>Security Validation:</a:t>
            </a: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 JWT Authentication and Authorization verification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48299" y="6206321"/>
            <a:ext cx="5758376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922" lvl="1" indent="-73961" algn="l">
              <a:lnSpc>
                <a:spcPts val="2827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ea typeface="Montserrat Bold"/>
                <a:cs typeface="Montserrat Bold"/>
                <a:sym typeface="Montserrat Bold"/>
              </a:rPr>
              <a:t>Business Logic Processing:</a:t>
            </a: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 Service Layer executes core business logic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71800" y="7237549"/>
            <a:ext cx="5758376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922" lvl="1" indent="-73961" algn="l">
              <a:lnSpc>
                <a:spcPts val="2827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ea typeface="Montserrat Bold"/>
                <a:cs typeface="Montserrat Bold"/>
                <a:sym typeface="Montserrat Bold"/>
              </a:rPr>
              <a:t>Data Abstraction:</a:t>
            </a: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 Repository Layer handles data access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71800" y="8150436"/>
            <a:ext cx="5758376" cy="691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7922" lvl="1" indent="-73961" algn="l">
              <a:lnSpc>
                <a:spcPts val="2827"/>
              </a:lnSpc>
              <a:buFont typeface="Arial"/>
              <a:buChar char="•"/>
            </a:pPr>
            <a:r>
              <a:rPr lang="en-US" sz="2000" b="1" dirty="0">
                <a:solidFill>
                  <a:srgbClr val="384653"/>
                </a:solidFill>
                <a:ea typeface="Montserrat Bold"/>
                <a:cs typeface="Montserrat Bold"/>
                <a:sym typeface="Montserrat Bold"/>
              </a:rPr>
              <a:t>Data Persistence:</a:t>
            </a: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 SQL Server stores and retrieves data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92249" y="1638300"/>
            <a:ext cx="5988848" cy="7944389"/>
            <a:chOff x="0" y="0"/>
            <a:chExt cx="4889702" cy="7513194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4889754" cy="7513193"/>
            </a:xfrm>
            <a:custGeom>
              <a:avLst/>
              <a:gdLst/>
              <a:ahLst/>
              <a:cxnLst/>
              <a:rect l="l" t="t" r="r" b="b"/>
              <a:pathLst>
                <a:path w="4889754" h="7513193">
                  <a:moveTo>
                    <a:pt x="0" y="0"/>
                  </a:moveTo>
                  <a:lnTo>
                    <a:pt x="4889754" y="0"/>
                  </a:lnTo>
                  <a:lnTo>
                    <a:pt x="4889754" y="7513193"/>
                  </a:lnTo>
                  <a:lnTo>
                    <a:pt x="0" y="7513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" r="1" b="-23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0"/>
            <a:ext cx="13346206" cy="10312977"/>
            <a:chOff x="0" y="0"/>
            <a:chExt cx="13445067" cy="1038937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9362"/>
            </a:xfrm>
            <a:custGeom>
              <a:avLst/>
              <a:gdLst/>
              <a:ahLst/>
              <a:cxnLst/>
              <a:rect l="l" t="t" r="r" b="b"/>
              <a:pathLst>
                <a:path w="13445110" h="10389362">
                  <a:moveTo>
                    <a:pt x="0" y="0"/>
                  </a:moveTo>
                  <a:lnTo>
                    <a:pt x="13445110" y="0"/>
                  </a:lnTo>
                  <a:lnTo>
                    <a:pt x="13445110" y="10389362"/>
                  </a:lnTo>
                  <a:lnTo>
                    <a:pt x="0" y="10389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" b="-1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49" y="12455"/>
            <a:ext cx="13346249" cy="10312969"/>
            <a:chOff x="0" y="0"/>
            <a:chExt cx="13445110" cy="103893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9362"/>
            </a:xfrm>
            <a:custGeom>
              <a:avLst/>
              <a:gdLst/>
              <a:ahLst/>
              <a:cxnLst/>
              <a:rect l="l" t="t" r="r" b="b"/>
              <a:pathLst>
                <a:path w="13445110" h="10389362">
                  <a:moveTo>
                    <a:pt x="0" y="0"/>
                  </a:moveTo>
                  <a:lnTo>
                    <a:pt x="13445110" y="0"/>
                  </a:lnTo>
                  <a:lnTo>
                    <a:pt x="13445110" y="10389362"/>
                  </a:lnTo>
                  <a:lnTo>
                    <a:pt x="0" y="1038936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200400" y="1028700"/>
            <a:ext cx="13514294" cy="569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Database Foundation: SQL Server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F4A53A-46E8-D6A7-E62D-F68073FFB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912" y="2080785"/>
            <a:ext cx="12908176" cy="6125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179454" y="2120681"/>
            <a:ext cx="10536546" cy="1084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2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Roles &amp; Access Control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6679" y="4292073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92"/>
              </a:lnSpc>
            </a:pPr>
            <a:r>
              <a:rPr lang="en-US" sz="2400" b="1" dirty="0" err="1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Superadmin</a:t>
            </a:r>
            <a:endParaRPr lang="en-US" sz="2400" b="1" dirty="0">
              <a:solidFill>
                <a:srgbClr val="384653"/>
              </a:solidFill>
              <a:ea typeface="Barlow Bold"/>
              <a:cs typeface="Barlow Bold"/>
              <a:sym typeface="Barlow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79454" y="4770200"/>
            <a:ext cx="3887864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Unique, full control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067318" y="3871167"/>
            <a:ext cx="4186872" cy="4185847"/>
            <a:chOff x="0" y="0"/>
            <a:chExt cx="4217886" cy="4216853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4217924" cy="4216908"/>
            </a:xfrm>
            <a:custGeom>
              <a:avLst/>
              <a:gdLst/>
              <a:ahLst/>
              <a:cxnLst/>
              <a:rect l="l" t="t" r="r" b="b"/>
              <a:pathLst>
                <a:path w="4217924" h="4216908">
                  <a:moveTo>
                    <a:pt x="0" y="0"/>
                  </a:moveTo>
                  <a:lnTo>
                    <a:pt x="4217924" y="0"/>
                  </a:lnTo>
                  <a:lnTo>
                    <a:pt x="4217924" y="4216908"/>
                  </a:lnTo>
                  <a:lnTo>
                    <a:pt x="0" y="4216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" b="-1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254191" y="3764458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554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Admin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54191" y="4242585"/>
            <a:ext cx="3887973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approves, rejects, closes posts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067318" y="3871167"/>
            <a:ext cx="4186872" cy="4185847"/>
            <a:chOff x="0" y="0"/>
            <a:chExt cx="4217886" cy="4216853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4217924" cy="4216908"/>
            </a:xfrm>
            <a:custGeom>
              <a:avLst/>
              <a:gdLst/>
              <a:ahLst/>
              <a:cxnLst/>
              <a:rect l="l" t="t" r="r" b="b"/>
              <a:pathLst>
                <a:path w="4217924" h="4216908">
                  <a:moveTo>
                    <a:pt x="0" y="0"/>
                  </a:moveTo>
                  <a:lnTo>
                    <a:pt x="4217924" y="0"/>
                  </a:lnTo>
                  <a:lnTo>
                    <a:pt x="4217924" y="4216908"/>
                  </a:lnTo>
                  <a:lnTo>
                    <a:pt x="0" y="4216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" b="-1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1748265" y="5084527"/>
            <a:ext cx="3250640" cy="38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User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48265" y="5562654"/>
            <a:ext cx="3393898" cy="76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Create posts, view own posts, view approved public posts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067318" y="3871167"/>
            <a:ext cx="4186872" cy="4185847"/>
            <a:chOff x="0" y="0"/>
            <a:chExt cx="4217886" cy="4216853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4217924" cy="4216908"/>
            </a:xfrm>
            <a:custGeom>
              <a:avLst/>
              <a:gdLst/>
              <a:ahLst/>
              <a:cxnLst/>
              <a:rect l="l" t="t" r="r" b="b"/>
              <a:pathLst>
                <a:path w="4217924" h="4216908">
                  <a:moveTo>
                    <a:pt x="0" y="0"/>
                  </a:moveTo>
                  <a:lnTo>
                    <a:pt x="4217924" y="0"/>
                  </a:lnTo>
                  <a:lnTo>
                    <a:pt x="4217924" y="4216908"/>
                  </a:lnTo>
                  <a:lnTo>
                    <a:pt x="0" y="4216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" b="-10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1254191" y="7195095"/>
            <a:ext cx="3742651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Role-Specific Dashboards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54191" y="7673222"/>
            <a:ext cx="3887973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Tailored interfaces for each role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067318" y="3871167"/>
            <a:ext cx="4186872" cy="4185847"/>
            <a:chOff x="0" y="0"/>
            <a:chExt cx="4217886" cy="4216853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4217924" cy="4216908"/>
            </a:xfrm>
            <a:custGeom>
              <a:avLst/>
              <a:gdLst/>
              <a:ahLst/>
              <a:cxnLst/>
              <a:rect l="l" t="t" r="r" b="b"/>
              <a:pathLst>
                <a:path w="4217924" h="4216908">
                  <a:moveTo>
                    <a:pt x="0" y="0"/>
                  </a:moveTo>
                  <a:lnTo>
                    <a:pt x="4217924" y="0"/>
                  </a:lnTo>
                  <a:lnTo>
                    <a:pt x="4217924" y="4216908"/>
                  </a:lnTo>
                  <a:lnTo>
                    <a:pt x="0" y="4216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" b="-10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3816679" y="6469747"/>
            <a:ext cx="3250640" cy="37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92"/>
              </a:lnSpc>
            </a:pPr>
            <a:r>
              <a:rPr lang="en-US" sz="20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Audit Records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79454" y="6947874"/>
            <a:ext cx="3887864" cy="76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Track role changes and account activation/deactivation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067318" y="3871167"/>
            <a:ext cx="4186872" cy="4185847"/>
            <a:chOff x="0" y="0"/>
            <a:chExt cx="4217886" cy="4216853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4217924" cy="4216908"/>
            </a:xfrm>
            <a:custGeom>
              <a:avLst/>
              <a:gdLst/>
              <a:ahLst/>
              <a:cxnLst/>
              <a:rect l="l" t="t" r="r" b="b"/>
              <a:pathLst>
                <a:path w="4217924" h="4216908">
                  <a:moveTo>
                    <a:pt x="0" y="0"/>
                  </a:moveTo>
                  <a:lnTo>
                    <a:pt x="4217924" y="0"/>
                  </a:lnTo>
                  <a:lnTo>
                    <a:pt x="4217924" y="4216908"/>
                  </a:lnTo>
                  <a:lnTo>
                    <a:pt x="0" y="4216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2" b="-1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179454" y="1206285"/>
            <a:ext cx="12365346" cy="1069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2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Post Workflow Management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179454" y="3532707"/>
            <a:ext cx="5981355" cy="987907"/>
            <a:chOff x="0" y="0"/>
            <a:chExt cx="6025661" cy="99522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6025642" cy="995172"/>
            </a:xfrm>
            <a:custGeom>
              <a:avLst/>
              <a:gdLst/>
              <a:ahLst/>
              <a:cxnLst/>
              <a:rect l="l" t="t" r="r" b="b"/>
              <a:pathLst>
                <a:path w="6025642" h="995172">
                  <a:moveTo>
                    <a:pt x="0" y="0"/>
                  </a:moveTo>
                  <a:lnTo>
                    <a:pt x="6025642" y="0"/>
                  </a:lnTo>
                  <a:lnTo>
                    <a:pt x="6025642" y="995172"/>
                  </a:lnTo>
                  <a:lnTo>
                    <a:pt x="0" y="995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" r="-14" b="-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426437" y="4758012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DRAFT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26437" y="5236138"/>
            <a:ext cx="5487389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Initial creation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60809" y="3532707"/>
            <a:ext cx="5981355" cy="987907"/>
            <a:chOff x="0" y="0"/>
            <a:chExt cx="6025661" cy="995225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6025642" cy="995172"/>
            </a:xfrm>
            <a:custGeom>
              <a:avLst/>
              <a:gdLst/>
              <a:ahLst/>
              <a:cxnLst/>
              <a:rect l="l" t="t" r="r" b="b"/>
              <a:pathLst>
                <a:path w="6025642" h="995172">
                  <a:moveTo>
                    <a:pt x="0" y="0"/>
                  </a:moveTo>
                  <a:lnTo>
                    <a:pt x="6025642" y="0"/>
                  </a:lnTo>
                  <a:lnTo>
                    <a:pt x="6025642" y="995172"/>
                  </a:lnTo>
                  <a:lnTo>
                    <a:pt x="0" y="995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" r="-14" b="-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407792" y="4758012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PENDING APPROVAL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7792" y="5236138"/>
            <a:ext cx="5487389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Submitted by User.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179454" y="5964036"/>
            <a:ext cx="5981355" cy="987907"/>
            <a:chOff x="0" y="0"/>
            <a:chExt cx="6025661" cy="995225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6025642" cy="995172"/>
            </a:xfrm>
            <a:custGeom>
              <a:avLst/>
              <a:gdLst/>
              <a:ahLst/>
              <a:cxnLst/>
              <a:rect l="l" t="t" r="r" b="b"/>
              <a:pathLst>
                <a:path w="6025642" h="995172">
                  <a:moveTo>
                    <a:pt x="0" y="0"/>
                  </a:moveTo>
                  <a:lnTo>
                    <a:pt x="6025642" y="0"/>
                  </a:lnTo>
                  <a:lnTo>
                    <a:pt x="6025642" y="995172"/>
                  </a:lnTo>
                  <a:lnTo>
                    <a:pt x="0" y="995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" r="-14" b="-5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3426437" y="7189340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APPROVED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26437" y="7667467"/>
            <a:ext cx="5487389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By Admin/</a:t>
            </a:r>
            <a:r>
              <a:rPr lang="en-US" sz="2000" dirty="0" err="1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Superadmin</a:t>
            </a:r>
            <a:endParaRPr lang="en-US" sz="2000" dirty="0">
              <a:solidFill>
                <a:srgbClr val="384653"/>
              </a:solidFill>
              <a:ea typeface="Montserrat"/>
              <a:cs typeface="Montserrat"/>
              <a:sym typeface="Montserra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160809" y="5964036"/>
            <a:ext cx="5981355" cy="987907"/>
            <a:chOff x="0" y="0"/>
            <a:chExt cx="6025661" cy="995225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6025642" cy="995172"/>
            </a:xfrm>
            <a:custGeom>
              <a:avLst/>
              <a:gdLst/>
              <a:ahLst/>
              <a:cxnLst/>
              <a:rect l="l" t="t" r="r" b="b"/>
              <a:pathLst>
                <a:path w="6025642" h="995172">
                  <a:moveTo>
                    <a:pt x="0" y="0"/>
                  </a:moveTo>
                  <a:lnTo>
                    <a:pt x="6025642" y="0"/>
                  </a:lnTo>
                  <a:lnTo>
                    <a:pt x="6025642" y="995172"/>
                  </a:lnTo>
                  <a:lnTo>
                    <a:pt x="0" y="995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" r="-14" b="-5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9407792" y="7189340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CLOSED</a:t>
            </a:r>
            <a:r>
              <a:rPr lang="en-US" sz="2554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/RESOLVED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07792" y="7667467"/>
            <a:ext cx="5487389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By Admin/</a:t>
            </a:r>
            <a:r>
              <a:rPr lang="en-US" sz="2000" dirty="0" err="1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Superadmin</a:t>
            </a:r>
            <a:endParaRPr lang="en-US" sz="2000" dirty="0">
              <a:solidFill>
                <a:srgbClr val="384653"/>
              </a:solidFill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079749" y="664632"/>
            <a:ext cx="7679607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5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Key API Endpoints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6907" y="2075712"/>
            <a:ext cx="27805" cy="7544057"/>
            <a:chOff x="0" y="0"/>
            <a:chExt cx="28011" cy="759993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940" cy="7599934"/>
            </a:xfrm>
            <a:custGeom>
              <a:avLst/>
              <a:gdLst/>
              <a:ahLst/>
              <a:cxnLst/>
              <a:rect l="l" t="t" r="r" b="b"/>
              <a:pathLst>
                <a:path w="27940" h="7599934">
                  <a:moveTo>
                    <a:pt x="0" y="13970"/>
                  </a:moveTo>
                  <a:cubicBezTo>
                    <a:pt x="0" y="6223"/>
                    <a:pt x="6223" y="0"/>
                    <a:pt x="13970" y="0"/>
                  </a:cubicBezTo>
                  <a:cubicBezTo>
                    <a:pt x="21717" y="0"/>
                    <a:pt x="27940" y="6223"/>
                    <a:pt x="27940" y="13970"/>
                  </a:cubicBezTo>
                  <a:lnTo>
                    <a:pt x="27940" y="7585964"/>
                  </a:lnTo>
                  <a:cubicBezTo>
                    <a:pt x="27940" y="7593711"/>
                    <a:pt x="21717" y="7599934"/>
                    <a:pt x="13970" y="7599934"/>
                  </a:cubicBezTo>
                  <a:cubicBezTo>
                    <a:pt x="6223" y="7599934"/>
                    <a:pt x="0" y="7593711"/>
                    <a:pt x="0" y="758596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765680" y="2299615"/>
            <a:ext cx="422934" cy="27798"/>
            <a:chOff x="0" y="0"/>
            <a:chExt cx="426066" cy="280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6085" cy="27942"/>
            </a:xfrm>
            <a:custGeom>
              <a:avLst/>
              <a:gdLst/>
              <a:ahLst/>
              <a:cxnLst/>
              <a:rect l="l" t="t" r="r" b="b"/>
              <a:pathLst>
                <a:path w="426085" h="27942">
                  <a:moveTo>
                    <a:pt x="0" y="13970"/>
                  </a:moveTo>
                  <a:cubicBezTo>
                    <a:pt x="0" y="6223"/>
                    <a:pt x="6223" y="0"/>
                    <a:pt x="13970" y="0"/>
                  </a:cubicBezTo>
                  <a:lnTo>
                    <a:pt x="412115" y="0"/>
                  </a:lnTo>
                  <a:cubicBezTo>
                    <a:pt x="419862" y="0"/>
                    <a:pt x="426085" y="6223"/>
                    <a:pt x="426085" y="13970"/>
                  </a:cubicBezTo>
                  <a:cubicBezTo>
                    <a:pt x="426085" y="21717"/>
                    <a:pt x="419862" y="27940"/>
                    <a:pt x="412115" y="27940"/>
                  </a:cubicBezTo>
                  <a:lnTo>
                    <a:pt x="13970" y="27940"/>
                  </a:lnTo>
                  <a:cubicBezTo>
                    <a:pt x="6223" y="28067"/>
                    <a:pt x="0" y="21717"/>
                    <a:pt x="0" y="1397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81522" y="2234247"/>
            <a:ext cx="158573" cy="158535"/>
            <a:chOff x="0" y="0"/>
            <a:chExt cx="159747" cy="15970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59766" cy="159766"/>
            </a:xfrm>
            <a:custGeom>
              <a:avLst/>
              <a:gdLst/>
              <a:ahLst/>
              <a:cxnLst/>
              <a:rect l="l" t="t" r="r" b="b"/>
              <a:pathLst>
                <a:path w="159766" h="159766">
                  <a:moveTo>
                    <a:pt x="0" y="0"/>
                  </a:moveTo>
                  <a:lnTo>
                    <a:pt x="159766" y="0"/>
                  </a:lnTo>
                  <a:lnTo>
                    <a:pt x="159766" y="159766"/>
                  </a:lnTo>
                  <a:lnTo>
                    <a:pt x="0" y="159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" r="11" b="2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5532526" y="2129306"/>
            <a:ext cx="278241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6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Authentication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79749" y="2527623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/auth/register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79749" y="2953711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/auth/login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133004" y="3568106"/>
            <a:ext cx="422934" cy="27798"/>
            <a:chOff x="0" y="0"/>
            <a:chExt cx="426066" cy="280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6085" cy="27942"/>
            </a:xfrm>
            <a:custGeom>
              <a:avLst/>
              <a:gdLst/>
              <a:ahLst/>
              <a:cxnLst/>
              <a:rect l="l" t="t" r="r" b="b"/>
              <a:pathLst>
                <a:path w="426085" h="27942">
                  <a:moveTo>
                    <a:pt x="0" y="13970"/>
                  </a:moveTo>
                  <a:cubicBezTo>
                    <a:pt x="0" y="6223"/>
                    <a:pt x="6223" y="0"/>
                    <a:pt x="13970" y="0"/>
                  </a:cubicBezTo>
                  <a:lnTo>
                    <a:pt x="412115" y="0"/>
                  </a:lnTo>
                  <a:cubicBezTo>
                    <a:pt x="419862" y="0"/>
                    <a:pt x="426085" y="6223"/>
                    <a:pt x="426085" y="13970"/>
                  </a:cubicBezTo>
                  <a:cubicBezTo>
                    <a:pt x="426085" y="21717"/>
                    <a:pt x="419862" y="27940"/>
                    <a:pt x="412115" y="27940"/>
                  </a:cubicBezTo>
                  <a:lnTo>
                    <a:pt x="13970" y="27940"/>
                  </a:lnTo>
                  <a:cubicBezTo>
                    <a:pt x="6223" y="28067"/>
                    <a:pt x="0" y="21717"/>
                    <a:pt x="0" y="1397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081522" y="3502738"/>
            <a:ext cx="158573" cy="158535"/>
            <a:chOff x="0" y="0"/>
            <a:chExt cx="159747" cy="159709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59766" cy="159766"/>
            </a:xfrm>
            <a:custGeom>
              <a:avLst/>
              <a:gdLst/>
              <a:ahLst/>
              <a:cxnLst/>
              <a:rect l="l" t="t" r="r" b="b"/>
              <a:pathLst>
                <a:path w="159766" h="159766">
                  <a:moveTo>
                    <a:pt x="0" y="0"/>
                  </a:moveTo>
                  <a:lnTo>
                    <a:pt x="159766" y="0"/>
                  </a:lnTo>
                  <a:lnTo>
                    <a:pt x="159766" y="159766"/>
                  </a:lnTo>
                  <a:lnTo>
                    <a:pt x="0" y="159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" r="11" b="23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006677" y="3397797"/>
            <a:ext cx="3633123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User/Admin Management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06677" y="3796114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GET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/admin/users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06677" y="4222202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/admin/users/{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userid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}/suspend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06677" y="4648290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/admin/users/{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userid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}/reinstate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06677" y="5074378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DELETE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/admin/users/{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userid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06677" y="5500465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/admin/users/{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userid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}/promote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06677" y="5926553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/admin/users/{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userid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}/demote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765680" y="5294392"/>
            <a:ext cx="422934" cy="27798"/>
            <a:chOff x="0" y="0"/>
            <a:chExt cx="426066" cy="280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6085" cy="27942"/>
            </a:xfrm>
            <a:custGeom>
              <a:avLst/>
              <a:gdLst/>
              <a:ahLst/>
              <a:cxnLst/>
              <a:rect l="l" t="t" r="r" b="b"/>
              <a:pathLst>
                <a:path w="426085" h="27942">
                  <a:moveTo>
                    <a:pt x="0" y="13970"/>
                  </a:moveTo>
                  <a:cubicBezTo>
                    <a:pt x="0" y="6223"/>
                    <a:pt x="6223" y="0"/>
                    <a:pt x="13970" y="0"/>
                  </a:cubicBezTo>
                  <a:lnTo>
                    <a:pt x="412115" y="0"/>
                  </a:lnTo>
                  <a:cubicBezTo>
                    <a:pt x="419862" y="0"/>
                    <a:pt x="426085" y="6223"/>
                    <a:pt x="426085" y="13970"/>
                  </a:cubicBezTo>
                  <a:cubicBezTo>
                    <a:pt x="426085" y="21717"/>
                    <a:pt x="419862" y="27940"/>
                    <a:pt x="412115" y="27940"/>
                  </a:cubicBezTo>
                  <a:lnTo>
                    <a:pt x="13970" y="27940"/>
                  </a:lnTo>
                  <a:cubicBezTo>
                    <a:pt x="6223" y="28067"/>
                    <a:pt x="0" y="21717"/>
                    <a:pt x="0" y="1397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081522" y="5229024"/>
            <a:ext cx="158573" cy="158535"/>
            <a:chOff x="0" y="0"/>
            <a:chExt cx="159747" cy="159709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159766" cy="159766"/>
            </a:xfrm>
            <a:custGeom>
              <a:avLst/>
              <a:gdLst/>
              <a:ahLst/>
              <a:cxnLst/>
              <a:rect l="l" t="t" r="r" b="b"/>
              <a:pathLst>
                <a:path w="159766" h="159766">
                  <a:moveTo>
                    <a:pt x="0" y="0"/>
                  </a:moveTo>
                  <a:lnTo>
                    <a:pt x="159766" y="0"/>
                  </a:lnTo>
                  <a:lnTo>
                    <a:pt x="159766" y="159766"/>
                  </a:lnTo>
                  <a:lnTo>
                    <a:pt x="0" y="159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" r="11" b="23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5532526" y="5124082"/>
            <a:ext cx="278241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6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Posts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79749" y="5522399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GET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79749" y="5948488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/Posts/{id}/submit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79749" y="6374576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GET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/Posts/{id}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079749" y="6800663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DELETE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/Posts/{id}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79749" y="7226751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/Posts/{id}/approve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079749" y="7652839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/Posts/{id}/reject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79749" y="8078927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/Posts/{id}/close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133004" y="7233721"/>
            <a:ext cx="422934" cy="27798"/>
            <a:chOff x="0" y="0"/>
            <a:chExt cx="426066" cy="2800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26085" cy="27942"/>
            </a:xfrm>
            <a:custGeom>
              <a:avLst/>
              <a:gdLst/>
              <a:ahLst/>
              <a:cxnLst/>
              <a:rect l="l" t="t" r="r" b="b"/>
              <a:pathLst>
                <a:path w="426085" h="27942">
                  <a:moveTo>
                    <a:pt x="0" y="13970"/>
                  </a:moveTo>
                  <a:cubicBezTo>
                    <a:pt x="0" y="6223"/>
                    <a:pt x="6223" y="0"/>
                    <a:pt x="13970" y="0"/>
                  </a:cubicBezTo>
                  <a:lnTo>
                    <a:pt x="412115" y="0"/>
                  </a:lnTo>
                  <a:cubicBezTo>
                    <a:pt x="419862" y="0"/>
                    <a:pt x="426085" y="6223"/>
                    <a:pt x="426085" y="13970"/>
                  </a:cubicBezTo>
                  <a:cubicBezTo>
                    <a:pt x="426085" y="21717"/>
                    <a:pt x="419862" y="27940"/>
                    <a:pt x="412115" y="27940"/>
                  </a:cubicBezTo>
                  <a:lnTo>
                    <a:pt x="13970" y="27940"/>
                  </a:lnTo>
                  <a:cubicBezTo>
                    <a:pt x="6223" y="28067"/>
                    <a:pt x="0" y="21717"/>
                    <a:pt x="0" y="13970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9081522" y="7168353"/>
            <a:ext cx="158573" cy="158535"/>
            <a:chOff x="0" y="0"/>
            <a:chExt cx="159747" cy="159709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159766" cy="159766"/>
            </a:xfrm>
            <a:custGeom>
              <a:avLst/>
              <a:gdLst/>
              <a:ahLst/>
              <a:cxnLst/>
              <a:rect l="l" t="t" r="r" b="b"/>
              <a:pathLst>
                <a:path w="159766" h="159766">
                  <a:moveTo>
                    <a:pt x="0" y="0"/>
                  </a:moveTo>
                  <a:lnTo>
                    <a:pt x="159766" y="0"/>
                  </a:lnTo>
                  <a:lnTo>
                    <a:pt x="159766" y="159766"/>
                  </a:lnTo>
                  <a:lnTo>
                    <a:pt x="0" y="159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" r="11" b="23"/>
              </a:stretch>
            </a:blipFill>
          </p:spPr>
        </p:sp>
      </p:grpSp>
      <p:sp>
        <p:nvSpPr>
          <p:cNvPr id="43" name="TextBox 43"/>
          <p:cNvSpPr txBox="1"/>
          <p:nvPr/>
        </p:nvSpPr>
        <p:spPr>
          <a:xfrm>
            <a:off x="10006677" y="7063413"/>
            <a:ext cx="278241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Comments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006677" y="7461729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/Posts/{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postId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}/comments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06677" y="7887817"/>
            <a:ext cx="5235193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6543" lvl="1" indent="-68272" algn="l">
              <a:lnSpc>
                <a:spcPts val="2645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GET /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api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/Posts/{</a:t>
            </a:r>
            <a:r>
              <a:rPr lang="en-US" sz="2000" dirty="0" err="1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postId</a:t>
            </a:r>
            <a:r>
              <a:rPr lang="en-US" sz="2000" dirty="0">
                <a:solidFill>
                  <a:srgbClr val="384653"/>
                </a:solidFill>
                <a:ea typeface="Consolas"/>
                <a:cs typeface="Consolas"/>
                <a:sym typeface="Consolas"/>
              </a:rPr>
              <a:t>}/comments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116568" y="674809"/>
            <a:ext cx="13495032" cy="781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92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Project Development Challenges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102665" y="1867660"/>
            <a:ext cx="12116287" cy="1395651"/>
            <a:chOff x="0" y="0"/>
            <a:chExt cx="12206037" cy="1405989"/>
          </a:xfrm>
        </p:grpSpPr>
        <p:sp>
          <p:nvSpPr>
            <p:cNvPr id="8" name="Freeform 8"/>
            <p:cNvSpPr/>
            <p:nvPr/>
          </p:nvSpPr>
          <p:spPr>
            <a:xfrm>
              <a:off x="13970" y="13970"/>
              <a:ext cx="12178030" cy="1378077"/>
            </a:xfrm>
            <a:custGeom>
              <a:avLst/>
              <a:gdLst/>
              <a:ahLst/>
              <a:cxnLst/>
              <a:rect l="l" t="t" r="r" b="b"/>
              <a:pathLst>
                <a:path w="12178030" h="1378077">
                  <a:moveTo>
                    <a:pt x="0" y="339471"/>
                  </a:moveTo>
                  <a:cubicBezTo>
                    <a:pt x="0" y="152019"/>
                    <a:pt x="154686" y="0"/>
                    <a:pt x="345567" y="0"/>
                  </a:cubicBezTo>
                  <a:lnTo>
                    <a:pt x="11832590" y="0"/>
                  </a:lnTo>
                  <a:cubicBezTo>
                    <a:pt x="12023344" y="0"/>
                    <a:pt x="12178030" y="152019"/>
                    <a:pt x="12178030" y="339471"/>
                  </a:cubicBezTo>
                  <a:lnTo>
                    <a:pt x="12178030" y="1038606"/>
                  </a:lnTo>
                  <a:cubicBezTo>
                    <a:pt x="12178030" y="1226058"/>
                    <a:pt x="12023344" y="1378077"/>
                    <a:pt x="11832463" y="1378077"/>
                  </a:cubicBezTo>
                  <a:lnTo>
                    <a:pt x="345567" y="1378077"/>
                  </a:lnTo>
                  <a:cubicBezTo>
                    <a:pt x="154686" y="1378077"/>
                    <a:pt x="0" y="1226058"/>
                    <a:pt x="0" y="103860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2206097" cy="1406017"/>
            </a:xfrm>
            <a:custGeom>
              <a:avLst/>
              <a:gdLst/>
              <a:ahLst/>
              <a:cxnLst/>
              <a:rect l="l" t="t" r="r" b="b"/>
              <a:pathLst>
                <a:path w="12206097" h="1406017">
                  <a:moveTo>
                    <a:pt x="0" y="353441"/>
                  </a:moveTo>
                  <a:cubicBezTo>
                    <a:pt x="0" y="157988"/>
                    <a:pt x="161163" y="0"/>
                    <a:pt x="359537" y="0"/>
                  </a:cubicBezTo>
                  <a:lnTo>
                    <a:pt x="11846560" y="0"/>
                  </a:lnTo>
                  <a:lnTo>
                    <a:pt x="11846560" y="13970"/>
                  </a:lnTo>
                  <a:lnTo>
                    <a:pt x="11846560" y="0"/>
                  </a:lnTo>
                  <a:cubicBezTo>
                    <a:pt x="12044934" y="0"/>
                    <a:pt x="12206097" y="157988"/>
                    <a:pt x="12206097" y="353441"/>
                  </a:cubicBezTo>
                  <a:lnTo>
                    <a:pt x="12192000" y="353441"/>
                  </a:lnTo>
                  <a:lnTo>
                    <a:pt x="12205970" y="353441"/>
                  </a:lnTo>
                  <a:lnTo>
                    <a:pt x="12205970" y="1052576"/>
                  </a:lnTo>
                  <a:lnTo>
                    <a:pt x="12192000" y="1052576"/>
                  </a:lnTo>
                  <a:lnTo>
                    <a:pt x="12205970" y="1052576"/>
                  </a:lnTo>
                  <a:cubicBezTo>
                    <a:pt x="12205970" y="1248029"/>
                    <a:pt x="12044807" y="1406017"/>
                    <a:pt x="11846433" y="1406017"/>
                  </a:cubicBezTo>
                  <a:lnTo>
                    <a:pt x="11846433" y="1392047"/>
                  </a:lnTo>
                  <a:lnTo>
                    <a:pt x="11846433" y="1406017"/>
                  </a:lnTo>
                  <a:lnTo>
                    <a:pt x="359537" y="1406017"/>
                  </a:lnTo>
                  <a:lnTo>
                    <a:pt x="359537" y="1392047"/>
                  </a:lnTo>
                  <a:lnTo>
                    <a:pt x="359537" y="1406017"/>
                  </a:lnTo>
                  <a:cubicBezTo>
                    <a:pt x="161163" y="1406017"/>
                    <a:pt x="0" y="1248029"/>
                    <a:pt x="0" y="1052576"/>
                  </a:cubicBezTo>
                  <a:lnTo>
                    <a:pt x="0" y="353441"/>
                  </a:lnTo>
                  <a:lnTo>
                    <a:pt x="13970" y="353441"/>
                  </a:lnTo>
                  <a:lnTo>
                    <a:pt x="0" y="353441"/>
                  </a:lnTo>
                  <a:moveTo>
                    <a:pt x="28067" y="353441"/>
                  </a:moveTo>
                  <a:lnTo>
                    <a:pt x="28067" y="1052576"/>
                  </a:lnTo>
                  <a:lnTo>
                    <a:pt x="13970" y="1052576"/>
                  </a:lnTo>
                  <a:lnTo>
                    <a:pt x="27940" y="1052576"/>
                  </a:lnTo>
                  <a:cubicBezTo>
                    <a:pt x="27940" y="1232027"/>
                    <a:pt x="176149" y="1377950"/>
                    <a:pt x="359410" y="1377950"/>
                  </a:cubicBezTo>
                  <a:lnTo>
                    <a:pt x="11846560" y="1377950"/>
                  </a:lnTo>
                  <a:cubicBezTo>
                    <a:pt x="12029948" y="1377950"/>
                    <a:pt x="12178030" y="1232027"/>
                    <a:pt x="12178030" y="1052576"/>
                  </a:cubicBezTo>
                  <a:lnTo>
                    <a:pt x="12178030" y="353441"/>
                  </a:lnTo>
                  <a:cubicBezTo>
                    <a:pt x="12178030" y="173990"/>
                    <a:pt x="12029821" y="28067"/>
                    <a:pt x="11846560" y="28067"/>
                  </a:cubicBezTo>
                  <a:lnTo>
                    <a:pt x="359537" y="28067"/>
                  </a:lnTo>
                  <a:lnTo>
                    <a:pt x="359537" y="13970"/>
                  </a:lnTo>
                  <a:lnTo>
                    <a:pt x="359537" y="27940"/>
                  </a:lnTo>
                  <a:cubicBezTo>
                    <a:pt x="176149" y="27940"/>
                    <a:pt x="28067" y="173863"/>
                    <a:pt x="28067" y="35331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144372" y="1909360"/>
            <a:ext cx="898436" cy="1312251"/>
            <a:chOff x="0" y="0"/>
            <a:chExt cx="905091" cy="13219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5129" cy="1321943"/>
            </a:xfrm>
            <a:custGeom>
              <a:avLst/>
              <a:gdLst/>
              <a:ahLst/>
              <a:cxnLst/>
              <a:rect l="l" t="t" r="r" b="b"/>
              <a:pathLst>
                <a:path w="905129" h="1321943">
                  <a:moveTo>
                    <a:pt x="0" y="305816"/>
                  </a:moveTo>
                  <a:cubicBezTo>
                    <a:pt x="0" y="136906"/>
                    <a:pt x="136906" y="0"/>
                    <a:pt x="305816" y="0"/>
                  </a:cubicBezTo>
                  <a:lnTo>
                    <a:pt x="599313" y="0"/>
                  </a:lnTo>
                  <a:cubicBezTo>
                    <a:pt x="768223" y="0"/>
                    <a:pt x="905129" y="136906"/>
                    <a:pt x="905129" y="305816"/>
                  </a:cubicBezTo>
                  <a:lnTo>
                    <a:pt x="905129" y="1016127"/>
                  </a:lnTo>
                  <a:cubicBezTo>
                    <a:pt x="905129" y="1185037"/>
                    <a:pt x="768223" y="1321943"/>
                    <a:pt x="599313" y="1321943"/>
                  </a:cubicBezTo>
                  <a:lnTo>
                    <a:pt x="305816" y="1321943"/>
                  </a:lnTo>
                  <a:cubicBezTo>
                    <a:pt x="136906" y="1321943"/>
                    <a:pt x="0" y="1185037"/>
                    <a:pt x="0" y="1016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4267416" y="2067813"/>
            <a:ext cx="6324383" cy="360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Requirement Gathering and Understanding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67417" y="2561658"/>
            <a:ext cx="10685219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4129" lvl="1" indent="-72064" algn="l">
              <a:lnSpc>
                <a:spcPts val="2827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Evolving and unclear requirements making it difficult to map real workflows accurately.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102665" y="3460060"/>
            <a:ext cx="12116287" cy="1395651"/>
            <a:chOff x="0" y="0"/>
            <a:chExt cx="12206037" cy="1405989"/>
          </a:xfrm>
        </p:grpSpPr>
        <p:sp>
          <p:nvSpPr>
            <p:cNvPr id="15" name="Freeform 15"/>
            <p:cNvSpPr/>
            <p:nvPr/>
          </p:nvSpPr>
          <p:spPr>
            <a:xfrm>
              <a:off x="13970" y="13970"/>
              <a:ext cx="12178030" cy="1378077"/>
            </a:xfrm>
            <a:custGeom>
              <a:avLst/>
              <a:gdLst/>
              <a:ahLst/>
              <a:cxnLst/>
              <a:rect l="l" t="t" r="r" b="b"/>
              <a:pathLst>
                <a:path w="12178030" h="1378077">
                  <a:moveTo>
                    <a:pt x="0" y="339471"/>
                  </a:moveTo>
                  <a:cubicBezTo>
                    <a:pt x="0" y="152019"/>
                    <a:pt x="154686" y="0"/>
                    <a:pt x="345567" y="0"/>
                  </a:cubicBezTo>
                  <a:lnTo>
                    <a:pt x="11832590" y="0"/>
                  </a:lnTo>
                  <a:cubicBezTo>
                    <a:pt x="12023344" y="0"/>
                    <a:pt x="12178030" y="152019"/>
                    <a:pt x="12178030" y="339471"/>
                  </a:cubicBezTo>
                  <a:lnTo>
                    <a:pt x="12178030" y="1038606"/>
                  </a:lnTo>
                  <a:cubicBezTo>
                    <a:pt x="12178030" y="1226058"/>
                    <a:pt x="12023344" y="1378077"/>
                    <a:pt x="11832463" y="1378077"/>
                  </a:cubicBezTo>
                  <a:lnTo>
                    <a:pt x="345567" y="1378077"/>
                  </a:lnTo>
                  <a:cubicBezTo>
                    <a:pt x="154686" y="1378077"/>
                    <a:pt x="0" y="1226058"/>
                    <a:pt x="0" y="103860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2206097" cy="1406017"/>
            </a:xfrm>
            <a:custGeom>
              <a:avLst/>
              <a:gdLst/>
              <a:ahLst/>
              <a:cxnLst/>
              <a:rect l="l" t="t" r="r" b="b"/>
              <a:pathLst>
                <a:path w="12206097" h="1406017">
                  <a:moveTo>
                    <a:pt x="0" y="353441"/>
                  </a:moveTo>
                  <a:cubicBezTo>
                    <a:pt x="0" y="157988"/>
                    <a:pt x="161163" y="0"/>
                    <a:pt x="359537" y="0"/>
                  </a:cubicBezTo>
                  <a:lnTo>
                    <a:pt x="11846560" y="0"/>
                  </a:lnTo>
                  <a:lnTo>
                    <a:pt x="11846560" y="13970"/>
                  </a:lnTo>
                  <a:lnTo>
                    <a:pt x="11846560" y="0"/>
                  </a:lnTo>
                  <a:cubicBezTo>
                    <a:pt x="12044934" y="0"/>
                    <a:pt x="12206097" y="157988"/>
                    <a:pt x="12206097" y="353441"/>
                  </a:cubicBezTo>
                  <a:lnTo>
                    <a:pt x="12192000" y="353441"/>
                  </a:lnTo>
                  <a:lnTo>
                    <a:pt x="12205970" y="353441"/>
                  </a:lnTo>
                  <a:lnTo>
                    <a:pt x="12205970" y="1052576"/>
                  </a:lnTo>
                  <a:lnTo>
                    <a:pt x="12192000" y="1052576"/>
                  </a:lnTo>
                  <a:lnTo>
                    <a:pt x="12205970" y="1052576"/>
                  </a:lnTo>
                  <a:cubicBezTo>
                    <a:pt x="12205970" y="1248029"/>
                    <a:pt x="12044807" y="1406017"/>
                    <a:pt x="11846433" y="1406017"/>
                  </a:cubicBezTo>
                  <a:lnTo>
                    <a:pt x="11846433" y="1392047"/>
                  </a:lnTo>
                  <a:lnTo>
                    <a:pt x="11846433" y="1406017"/>
                  </a:lnTo>
                  <a:lnTo>
                    <a:pt x="359537" y="1406017"/>
                  </a:lnTo>
                  <a:lnTo>
                    <a:pt x="359537" y="1392047"/>
                  </a:lnTo>
                  <a:lnTo>
                    <a:pt x="359537" y="1406017"/>
                  </a:lnTo>
                  <a:cubicBezTo>
                    <a:pt x="161163" y="1406017"/>
                    <a:pt x="0" y="1248029"/>
                    <a:pt x="0" y="1052576"/>
                  </a:cubicBezTo>
                  <a:lnTo>
                    <a:pt x="0" y="353441"/>
                  </a:lnTo>
                  <a:lnTo>
                    <a:pt x="13970" y="353441"/>
                  </a:lnTo>
                  <a:lnTo>
                    <a:pt x="0" y="353441"/>
                  </a:lnTo>
                  <a:moveTo>
                    <a:pt x="28067" y="353441"/>
                  </a:moveTo>
                  <a:lnTo>
                    <a:pt x="28067" y="1052576"/>
                  </a:lnTo>
                  <a:lnTo>
                    <a:pt x="13970" y="1052576"/>
                  </a:lnTo>
                  <a:lnTo>
                    <a:pt x="27940" y="1052576"/>
                  </a:lnTo>
                  <a:cubicBezTo>
                    <a:pt x="27940" y="1232027"/>
                    <a:pt x="176149" y="1377950"/>
                    <a:pt x="359410" y="1377950"/>
                  </a:cubicBezTo>
                  <a:lnTo>
                    <a:pt x="11846560" y="1377950"/>
                  </a:lnTo>
                  <a:cubicBezTo>
                    <a:pt x="12029948" y="1377950"/>
                    <a:pt x="12178030" y="1232027"/>
                    <a:pt x="12178030" y="1052576"/>
                  </a:cubicBezTo>
                  <a:lnTo>
                    <a:pt x="12178030" y="353441"/>
                  </a:lnTo>
                  <a:cubicBezTo>
                    <a:pt x="12178030" y="173990"/>
                    <a:pt x="12029821" y="28067"/>
                    <a:pt x="11846560" y="28067"/>
                  </a:cubicBezTo>
                  <a:lnTo>
                    <a:pt x="359537" y="28067"/>
                  </a:lnTo>
                  <a:lnTo>
                    <a:pt x="359537" y="13970"/>
                  </a:lnTo>
                  <a:lnTo>
                    <a:pt x="359537" y="27940"/>
                  </a:lnTo>
                  <a:cubicBezTo>
                    <a:pt x="176149" y="27940"/>
                    <a:pt x="28067" y="173863"/>
                    <a:pt x="28067" y="35331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144372" y="3501761"/>
            <a:ext cx="898436" cy="1312251"/>
            <a:chOff x="0" y="0"/>
            <a:chExt cx="905091" cy="13219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05129" cy="1321943"/>
            </a:xfrm>
            <a:custGeom>
              <a:avLst/>
              <a:gdLst/>
              <a:ahLst/>
              <a:cxnLst/>
              <a:rect l="l" t="t" r="r" b="b"/>
              <a:pathLst>
                <a:path w="905129" h="1321943">
                  <a:moveTo>
                    <a:pt x="0" y="305816"/>
                  </a:moveTo>
                  <a:cubicBezTo>
                    <a:pt x="0" y="136906"/>
                    <a:pt x="136906" y="0"/>
                    <a:pt x="305816" y="0"/>
                  </a:cubicBezTo>
                  <a:lnTo>
                    <a:pt x="599313" y="0"/>
                  </a:lnTo>
                  <a:cubicBezTo>
                    <a:pt x="768223" y="0"/>
                    <a:pt x="905129" y="136906"/>
                    <a:pt x="905129" y="305816"/>
                  </a:cubicBezTo>
                  <a:lnTo>
                    <a:pt x="905129" y="1016127"/>
                  </a:lnTo>
                  <a:cubicBezTo>
                    <a:pt x="905129" y="1185037"/>
                    <a:pt x="768223" y="1321943"/>
                    <a:pt x="599313" y="1321943"/>
                  </a:cubicBezTo>
                  <a:lnTo>
                    <a:pt x="305816" y="1321943"/>
                  </a:lnTo>
                  <a:cubicBezTo>
                    <a:pt x="136906" y="1321943"/>
                    <a:pt x="0" y="1185037"/>
                    <a:pt x="0" y="1016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4267416" y="3660214"/>
            <a:ext cx="3428783" cy="360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API Integration Issues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67417" y="4154058"/>
            <a:ext cx="10685219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4129" lvl="1" indent="-72064" algn="l">
              <a:lnSpc>
                <a:spcPts val="2827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Syncing API changes with UI changes.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102665" y="5052461"/>
            <a:ext cx="12116287" cy="1395651"/>
            <a:chOff x="0" y="0"/>
            <a:chExt cx="12206037" cy="1405989"/>
          </a:xfrm>
        </p:grpSpPr>
        <p:sp>
          <p:nvSpPr>
            <p:cNvPr id="22" name="Freeform 22"/>
            <p:cNvSpPr/>
            <p:nvPr/>
          </p:nvSpPr>
          <p:spPr>
            <a:xfrm>
              <a:off x="13970" y="13970"/>
              <a:ext cx="12178030" cy="1378077"/>
            </a:xfrm>
            <a:custGeom>
              <a:avLst/>
              <a:gdLst/>
              <a:ahLst/>
              <a:cxnLst/>
              <a:rect l="l" t="t" r="r" b="b"/>
              <a:pathLst>
                <a:path w="12178030" h="1378077">
                  <a:moveTo>
                    <a:pt x="0" y="339471"/>
                  </a:moveTo>
                  <a:cubicBezTo>
                    <a:pt x="0" y="152019"/>
                    <a:pt x="154686" y="0"/>
                    <a:pt x="345567" y="0"/>
                  </a:cubicBezTo>
                  <a:lnTo>
                    <a:pt x="11832590" y="0"/>
                  </a:lnTo>
                  <a:cubicBezTo>
                    <a:pt x="12023344" y="0"/>
                    <a:pt x="12178030" y="152019"/>
                    <a:pt x="12178030" y="339471"/>
                  </a:cubicBezTo>
                  <a:lnTo>
                    <a:pt x="12178030" y="1038606"/>
                  </a:lnTo>
                  <a:cubicBezTo>
                    <a:pt x="12178030" y="1226058"/>
                    <a:pt x="12023344" y="1378077"/>
                    <a:pt x="11832463" y="1378077"/>
                  </a:cubicBezTo>
                  <a:lnTo>
                    <a:pt x="345567" y="1378077"/>
                  </a:lnTo>
                  <a:cubicBezTo>
                    <a:pt x="154686" y="1378077"/>
                    <a:pt x="0" y="1226058"/>
                    <a:pt x="0" y="103860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2206097" cy="1406017"/>
            </a:xfrm>
            <a:custGeom>
              <a:avLst/>
              <a:gdLst/>
              <a:ahLst/>
              <a:cxnLst/>
              <a:rect l="l" t="t" r="r" b="b"/>
              <a:pathLst>
                <a:path w="12206097" h="1406017">
                  <a:moveTo>
                    <a:pt x="0" y="353441"/>
                  </a:moveTo>
                  <a:cubicBezTo>
                    <a:pt x="0" y="157988"/>
                    <a:pt x="161163" y="0"/>
                    <a:pt x="359537" y="0"/>
                  </a:cubicBezTo>
                  <a:lnTo>
                    <a:pt x="11846560" y="0"/>
                  </a:lnTo>
                  <a:lnTo>
                    <a:pt x="11846560" y="13970"/>
                  </a:lnTo>
                  <a:lnTo>
                    <a:pt x="11846560" y="0"/>
                  </a:lnTo>
                  <a:cubicBezTo>
                    <a:pt x="12044934" y="0"/>
                    <a:pt x="12206097" y="157988"/>
                    <a:pt x="12206097" y="353441"/>
                  </a:cubicBezTo>
                  <a:lnTo>
                    <a:pt x="12192000" y="353441"/>
                  </a:lnTo>
                  <a:lnTo>
                    <a:pt x="12205970" y="353441"/>
                  </a:lnTo>
                  <a:lnTo>
                    <a:pt x="12205970" y="1052576"/>
                  </a:lnTo>
                  <a:lnTo>
                    <a:pt x="12192000" y="1052576"/>
                  </a:lnTo>
                  <a:lnTo>
                    <a:pt x="12205970" y="1052576"/>
                  </a:lnTo>
                  <a:cubicBezTo>
                    <a:pt x="12205970" y="1248029"/>
                    <a:pt x="12044807" y="1406017"/>
                    <a:pt x="11846433" y="1406017"/>
                  </a:cubicBezTo>
                  <a:lnTo>
                    <a:pt x="11846433" y="1392047"/>
                  </a:lnTo>
                  <a:lnTo>
                    <a:pt x="11846433" y="1406017"/>
                  </a:lnTo>
                  <a:lnTo>
                    <a:pt x="359537" y="1406017"/>
                  </a:lnTo>
                  <a:lnTo>
                    <a:pt x="359537" y="1392047"/>
                  </a:lnTo>
                  <a:lnTo>
                    <a:pt x="359537" y="1406017"/>
                  </a:lnTo>
                  <a:cubicBezTo>
                    <a:pt x="161163" y="1406017"/>
                    <a:pt x="0" y="1248029"/>
                    <a:pt x="0" y="1052576"/>
                  </a:cubicBezTo>
                  <a:lnTo>
                    <a:pt x="0" y="353441"/>
                  </a:lnTo>
                  <a:lnTo>
                    <a:pt x="13970" y="353441"/>
                  </a:lnTo>
                  <a:lnTo>
                    <a:pt x="0" y="353441"/>
                  </a:lnTo>
                  <a:moveTo>
                    <a:pt x="28067" y="353441"/>
                  </a:moveTo>
                  <a:lnTo>
                    <a:pt x="28067" y="1052576"/>
                  </a:lnTo>
                  <a:lnTo>
                    <a:pt x="13970" y="1052576"/>
                  </a:lnTo>
                  <a:lnTo>
                    <a:pt x="27940" y="1052576"/>
                  </a:lnTo>
                  <a:cubicBezTo>
                    <a:pt x="27940" y="1232027"/>
                    <a:pt x="176149" y="1377950"/>
                    <a:pt x="359410" y="1377950"/>
                  </a:cubicBezTo>
                  <a:lnTo>
                    <a:pt x="11846560" y="1377950"/>
                  </a:lnTo>
                  <a:cubicBezTo>
                    <a:pt x="12029948" y="1377950"/>
                    <a:pt x="12178030" y="1232027"/>
                    <a:pt x="12178030" y="1052576"/>
                  </a:cubicBezTo>
                  <a:lnTo>
                    <a:pt x="12178030" y="353441"/>
                  </a:lnTo>
                  <a:cubicBezTo>
                    <a:pt x="12178030" y="173990"/>
                    <a:pt x="12029821" y="28067"/>
                    <a:pt x="11846560" y="28067"/>
                  </a:cubicBezTo>
                  <a:lnTo>
                    <a:pt x="359537" y="28067"/>
                  </a:lnTo>
                  <a:lnTo>
                    <a:pt x="359537" y="13970"/>
                  </a:lnTo>
                  <a:lnTo>
                    <a:pt x="359537" y="27940"/>
                  </a:lnTo>
                  <a:cubicBezTo>
                    <a:pt x="176149" y="27940"/>
                    <a:pt x="28067" y="173863"/>
                    <a:pt x="28067" y="35331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144372" y="5094160"/>
            <a:ext cx="898436" cy="1312251"/>
            <a:chOff x="0" y="0"/>
            <a:chExt cx="905091" cy="13219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5129" cy="1321943"/>
            </a:xfrm>
            <a:custGeom>
              <a:avLst/>
              <a:gdLst/>
              <a:ahLst/>
              <a:cxnLst/>
              <a:rect l="l" t="t" r="r" b="b"/>
              <a:pathLst>
                <a:path w="905129" h="1321943">
                  <a:moveTo>
                    <a:pt x="0" y="305816"/>
                  </a:moveTo>
                  <a:cubicBezTo>
                    <a:pt x="0" y="136906"/>
                    <a:pt x="136906" y="0"/>
                    <a:pt x="305816" y="0"/>
                  </a:cubicBezTo>
                  <a:lnTo>
                    <a:pt x="599313" y="0"/>
                  </a:lnTo>
                  <a:cubicBezTo>
                    <a:pt x="768223" y="0"/>
                    <a:pt x="905129" y="136906"/>
                    <a:pt x="905129" y="305816"/>
                  </a:cubicBezTo>
                  <a:lnTo>
                    <a:pt x="905129" y="1016127"/>
                  </a:lnTo>
                  <a:cubicBezTo>
                    <a:pt x="905129" y="1185037"/>
                    <a:pt x="768223" y="1321943"/>
                    <a:pt x="599313" y="1321943"/>
                  </a:cubicBezTo>
                  <a:lnTo>
                    <a:pt x="305816" y="1321943"/>
                  </a:lnTo>
                  <a:cubicBezTo>
                    <a:pt x="136906" y="1321943"/>
                    <a:pt x="0" y="1185037"/>
                    <a:pt x="0" y="1016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4267417" y="5269587"/>
            <a:ext cx="5105183" cy="360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Database Modelling Challenges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67417" y="5746458"/>
            <a:ext cx="10685219" cy="32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4129" lvl="1" indent="-72064" algn="l">
              <a:lnSpc>
                <a:spcPts val="2827"/>
              </a:lnSpc>
              <a:buFont typeface="Arial"/>
              <a:buChar char="•"/>
            </a:pPr>
            <a:r>
              <a:rPr lang="en-US" sz="1733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Designing stable data relationships while maintaining integrity and managing migrations.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3102665" y="6644861"/>
            <a:ext cx="12116287" cy="1395651"/>
            <a:chOff x="0" y="0"/>
            <a:chExt cx="12206037" cy="1405989"/>
          </a:xfrm>
        </p:grpSpPr>
        <p:sp>
          <p:nvSpPr>
            <p:cNvPr id="29" name="Freeform 29"/>
            <p:cNvSpPr/>
            <p:nvPr/>
          </p:nvSpPr>
          <p:spPr>
            <a:xfrm>
              <a:off x="13970" y="13970"/>
              <a:ext cx="12178030" cy="1378077"/>
            </a:xfrm>
            <a:custGeom>
              <a:avLst/>
              <a:gdLst/>
              <a:ahLst/>
              <a:cxnLst/>
              <a:rect l="l" t="t" r="r" b="b"/>
              <a:pathLst>
                <a:path w="12178030" h="1378077">
                  <a:moveTo>
                    <a:pt x="0" y="339471"/>
                  </a:moveTo>
                  <a:cubicBezTo>
                    <a:pt x="0" y="152019"/>
                    <a:pt x="154686" y="0"/>
                    <a:pt x="345567" y="0"/>
                  </a:cubicBezTo>
                  <a:lnTo>
                    <a:pt x="11832590" y="0"/>
                  </a:lnTo>
                  <a:cubicBezTo>
                    <a:pt x="12023344" y="0"/>
                    <a:pt x="12178030" y="152019"/>
                    <a:pt x="12178030" y="339471"/>
                  </a:cubicBezTo>
                  <a:lnTo>
                    <a:pt x="12178030" y="1038606"/>
                  </a:lnTo>
                  <a:cubicBezTo>
                    <a:pt x="12178030" y="1226058"/>
                    <a:pt x="12023344" y="1378077"/>
                    <a:pt x="11832463" y="1378077"/>
                  </a:cubicBezTo>
                  <a:lnTo>
                    <a:pt x="345567" y="1378077"/>
                  </a:lnTo>
                  <a:cubicBezTo>
                    <a:pt x="154686" y="1378077"/>
                    <a:pt x="0" y="1226058"/>
                    <a:pt x="0" y="103860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2206097" cy="1406017"/>
            </a:xfrm>
            <a:custGeom>
              <a:avLst/>
              <a:gdLst/>
              <a:ahLst/>
              <a:cxnLst/>
              <a:rect l="l" t="t" r="r" b="b"/>
              <a:pathLst>
                <a:path w="12206097" h="1406017">
                  <a:moveTo>
                    <a:pt x="0" y="353441"/>
                  </a:moveTo>
                  <a:cubicBezTo>
                    <a:pt x="0" y="157988"/>
                    <a:pt x="161163" y="0"/>
                    <a:pt x="359537" y="0"/>
                  </a:cubicBezTo>
                  <a:lnTo>
                    <a:pt x="11846560" y="0"/>
                  </a:lnTo>
                  <a:lnTo>
                    <a:pt x="11846560" y="13970"/>
                  </a:lnTo>
                  <a:lnTo>
                    <a:pt x="11846560" y="0"/>
                  </a:lnTo>
                  <a:cubicBezTo>
                    <a:pt x="12044934" y="0"/>
                    <a:pt x="12206097" y="157988"/>
                    <a:pt x="12206097" y="353441"/>
                  </a:cubicBezTo>
                  <a:lnTo>
                    <a:pt x="12192000" y="353441"/>
                  </a:lnTo>
                  <a:lnTo>
                    <a:pt x="12205970" y="353441"/>
                  </a:lnTo>
                  <a:lnTo>
                    <a:pt x="12205970" y="1052576"/>
                  </a:lnTo>
                  <a:lnTo>
                    <a:pt x="12192000" y="1052576"/>
                  </a:lnTo>
                  <a:lnTo>
                    <a:pt x="12205970" y="1052576"/>
                  </a:lnTo>
                  <a:cubicBezTo>
                    <a:pt x="12205970" y="1248029"/>
                    <a:pt x="12044807" y="1406017"/>
                    <a:pt x="11846433" y="1406017"/>
                  </a:cubicBezTo>
                  <a:lnTo>
                    <a:pt x="11846433" y="1392047"/>
                  </a:lnTo>
                  <a:lnTo>
                    <a:pt x="11846433" y="1406017"/>
                  </a:lnTo>
                  <a:lnTo>
                    <a:pt x="359537" y="1406017"/>
                  </a:lnTo>
                  <a:lnTo>
                    <a:pt x="359537" y="1392047"/>
                  </a:lnTo>
                  <a:lnTo>
                    <a:pt x="359537" y="1406017"/>
                  </a:lnTo>
                  <a:cubicBezTo>
                    <a:pt x="161163" y="1406017"/>
                    <a:pt x="0" y="1248029"/>
                    <a:pt x="0" y="1052576"/>
                  </a:cubicBezTo>
                  <a:lnTo>
                    <a:pt x="0" y="353441"/>
                  </a:lnTo>
                  <a:lnTo>
                    <a:pt x="13970" y="353441"/>
                  </a:lnTo>
                  <a:lnTo>
                    <a:pt x="0" y="353441"/>
                  </a:lnTo>
                  <a:moveTo>
                    <a:pt x="28067" y="353441"/>
                  </a:moveTo>
                  <a:lnTo>
                    <a:pt x="28067" y="1052576"/>
                  </a:lnTo>
                  <a:lnTo>
                    <a:pt x="13970" y="1052576"/>
                  </a:lnTo>
                  <a:lnTo>
                    <a:pt x="27940" y="1052576"/>
                  </a:lnTo>
                  <a:cubicBezTo>
                    <a:pt x="27940" y="1232027"/>
                    <a:pt x="176149" y="1377950"/>
                    <a:pt x="359410" y="1377950"/>
                  </a:cubicBezTo>
                  <a:lnTo>
                    <a:pt x="11846560" y="1377950"/>
                  </a:lnTo>
                  <a:cubicBezTo>
                    <a:pt x="12029948" y="1377950"/>
                    <a:pt x="12178030" y="1232027"/>
                    <a:pt x="12178030" y="1052576"/>
                  </a:cubicBezTo>
                  <a:lnTo>
                    <a:pt x="12178030" y="353441"/>
                  </a:lnTo>
                  <a:cubicBezTo>
                    <a:pt x="12178030" y="173990"/>
                    <a:pt x="12029821" y="28067"/>
                    <a:pt x="11846560" y="28067"/>
                  </a:cubicBezTo>
                  <a:lnTo>
                    <a:pt x="359537" y="28067"/>
                  </a:lnTo>
                  <a:lnTo>
                    <a:pt x="359537" y="13970"/>
                  </a:lnTo>
                  <a:lnTo>
                    <a:pt x="359537" y="27940"/>
                  </a:lnTo>
                  <a:cubicBezTo>
                    <a:pt x="176149" y="27940"/>
                    <a:pt x="28067" y="173863"/>
                    <a:pt x="28067" y="35331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3144372" y="6686561"/>
            <a:ext cx="898436" cy="1312251"/>
            <a:chOff x="0" y="0"/>
            <a:chExt cx="905091" cy="132197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05129" cy="1321943"/>
            </a:xfrm>
            <a:custGeom>
              <a:avLst/>
              <a:gdLst/>
              <a:ahLst/>
              <a:cxnLst/>
              <a:rect l="l" t="t" r="r" b="b"/>
              <a:pathLst>
                <a:path w="905129" h="1321943">
                  <a:moveTo>
                    <a:pt x="0" y="305816"/>
                  </a:moveTo>
                  <a:cubicBezTo>
                    <a:pt x="0" y="136906"/>
                    <a:pt x="136906" y="0"/>
                    <a:pt x="305816" y="0"/>
                  </a:cubicBezTo>
                  <a:lnTo>
                    <a:pt x="599313" y="0"/>
                  </a:lnTo>
                  <a:cubicBezTo>
                    <a:pt x="768223" y="0"/>
                    <a:pt x="905129" y="136906"/>
                    <a:pt x="905129" y="305816"/>
                  </a:cubicBezTo>
                  <a:lnTo>
                    <a:pt x="905129" y="1016127"/>
                  </a:lnTo>
                  <a:cubicBezTo>
                    <a:pt x="905129" y="1185037"/>
                    <a:pt x="768223" y="1321943"/>
                    <a:pt x="599313" y="1321943"/>
                  </a:cubicBezTo>
                  <a:lnTo>
                    <a:pt x="305816" y="1321943"/>
                  </a:lnTo>
                  <a:cubicBezTo>
                    <a:pt x="136906" y="1321943"/>
                    <a:pt x="0" y="1185037"/>
                    <a:pt x="0" y="1016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4267416" y="6845016"/>
            <a:ext cx="4876583" cy="360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Entity Framework Complexities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67417" y="7338859"/>
            <a:ext cx="10685219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4129" lvl="1" indent="-72064" algn="l">
              <a:lnSpc>
                <a:spcPts val="2827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Managing data loading, query optimization, and complex relational structures.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3102665" y="8237261"/>
            <a:ext cx="12116287" cy="1395651"/>
            <a:chOff x="0" y="0"/>
            <a:chExt cx="12206037" cy="1405989"/>
          </a:xfrm>
        </p:grpSpPr>
        <p:sp>
          <p:nvSpPr>
            <p:cNvPr id="36" name="Freeform 36"/>
            <p:cNvSpPr/>
            <p:nvPr/>
          </p:nvSpPr>
          <p:spPr>
            <a:xfrm>
              <a:off x="13970" y="13970"/>
              <a:ext cx="12178030" cy="1378077"/>
            </a:xfrm>
            <a:custGeom>
              <a:avLst/>
              <a:gdLst/>
              <a:ahLst/>
              <a:cxnLst/>
              <a:rect l="l" t="t" r="r" b="b"/>
              <a:pathLst>
                <a:path w="12178030" h="1378077">
                  <a:moveTo>
                    <a:pt x="0" y="339471"/>
                  </a:moveTo>
                  <a:cubicBezTo>
                    <a:pt x="0" y="152019"/>
                    <a:pt x="154686" y="0"/>
                    <a:pt x="345567" y="0"/>
                  </a:cubicBezTo>
                  <a:lnTo>
                    <a:pt x="11832590" y="0"/>
                  </a:lnTo>
                  <a:cubicBezTo>
                    <a:pt x="12023344" y="0"/>
                    <a:pt x="12178030" y="152019"/>
                    <a:pt x="12178030" y="339471"/>
                  </a:cubicBezTo>
                  <a:lnTo>
                    <a:pt x="12178030" y="1038606"/>
                  </a:lnTo>
                  <a:cubicBezTo>
                    <a:pt x="12178030" y="1226058"/>
                    <a:pt x="12023344" y="1378077"/>
                    <a:pt x="11832463" y="1378077"/>
                  </a:cubicBezTo>
                  <a:lnTo>
                    <a:pt x="345567" y="1378077"/>
                  </a:lnTo>
                  <a:cubicBezTo>
                    <a:pt x="154686" y="1378077"/>
                    <a:pt x="0" y="1226058"/>
                    <a:pt x="0" y="103860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2206097" cy="1406017"/>
            </a:xfrm>
            <a:custGeom>
              <a:avLst/>
              <a:gdLst/>
              <a:ahLst/>
              <a:cxnLst/>
              <a:rect l="l" t="t" r="r" b="b"/>
              <a:pathLst>
                <a:path w="12206097" h="1406017">
                  <a:moveTo>
                    <a:pt x="0" y="353441"/>
                  </a:moveTo>
                  <a:cubicBezTo>
                    <a:pt x="0" y="157988"/>
                    <a:pt x="161163" y="0"/>
                    <a:pt x="359537" y="0"/>
                  </a:cubicBezTo>
                  <a:lnTo>
                    <a:pt x="11846560" y="0"/>
                  </a:lnTo>
                  <a:lnTo>
                    <a:pt x="11846560" y="13970"/>
                  </a:lnTo>
                  <a:lnTo>
                    <a:pt x="11846560" y="0"/>
                  </a:lnTo>
                  <a:cubicBezTo>
                    <a:pt x="12044934" y="0"/>
                    <a:pt x="12206097" y="157988"/>
                    <a:pt x="12206097" y="353441"/>
                  </a:cubicBezTo>
                  <a:lnTo>
                    <a:pt x="12192000" y="353441"/>
                  </a:lnTo>
                  <a:lnTo>
                    <a:pt x="12205970" y="353441"/>
                  </a:lnTo>
                  <a:lnTo>
                    <a:pt x="12205970" y="1052576"/>
                  </a:lnTo>
                  <a:lnTo>
                    <a:pt x="12192000" y="1052576"/>
                  </a:lnTo>
                  <a:lnTo>
                    <a:pt x="12205970" y="1052576"/>
                  </a:lnTo>
                  <a:cubicBezTo>
                    <a:pt x="12205970" y="1248029"/>
                    <a:pt x="12044807" y="1406017"/>
                    <a:pt x="11846433" y="1406017"/>
                  </a:cubicBezTo>
                  <a:lnTo>
                    <a:pt x="11846433" y="1392047"/>
                  </a:lnTo>
                  <a:lnTo>
                    <a:pt x="11846433" y="1406017"/>
                  </a:lnTo>
                  <a:lnTo>
                    <a:pt x="359537" y="1406017"/>
                  </a:lnTo>
                  <a:lnTo>
                    <a:pt x="359537" y="1392047"/>
                  </a:lnTo>
                  <a:lnTo>
                    <a:pt x="359537" y="1406017"/>
                  </a:lnTo>
                  <a:cubicBezTo>
                    <a:pt x="161163" y="1406017"/>
                    <a:pt x="0" y="1248029"/>
                    <a:pt x="0" y="1052576"/>
                  </a:cubicBezTo>
                  <a:lnTo>
                    <a:pt x="0" y="353441"/>
                  </a:lnTo>
                  <a:lnTo>
                    <a:pt x="13970" y="353441"/>
                  </a:lnTo>
                  <a:lnTo>
                    <a:pt x="0" y="353441"/>
                  </a:lnTo>
                  <a:moveTo>
                    <a:pt x="28067" y="353441"/>
                  </a:moveTo>
                  <a:lnTo>
                    <a:pt x="28067" y="1052576"/>
                  </a:lnTo>
                  <a:lnTo>
                    <a:pt x="13970" y="1052576"/>
                  </a:lnTo>
                  <a:lnTo>
                    <a:pt x="27940" y="1052576"/>
                  </a:lnTo>
                  <a:cubicBezTo>
                    <a:pt x="27940" y="1232027"/>
                    <a:pt x="176149" y="1377950"/>
                    <a:pt x="359410" y="1377950"/>
                  </a:cubicBezTo>
                  <a:lnTo>
                    <a:pt x="11846560" y="1377950"/>
                  </a:lnTo>
                  <a:cubicBezTo>
                    <a:pt x="12029948" y="1377950"/>
                    <a:pt x="12178030" y="1232027"/>
                    <a:pt x="12178030" y="1052576"/>
                  </a:cubicBezTo>
                  <a:lnTo>
                    <a:pt x="12178030" y="353441"/>
                  </a:lnTo>
                  <a:cubicBezTo>
                    <a:pt x="12178030" y="173990"/>
                    <a:pt x="12029821" y="28067"/>
                    <a:pt x="11846560" y="28067"/>
                  </a:cubicBezTo>
                  <a:lnTo>
                    <a:pt x="359537" y="28067"/>
                  </a:lnTo>
                  <a:lnTo>
                    <a:pt x="359537" y="13970"/>
                  </a:lnTo>
                  <a:lnTo>
                    <a:pt x="359537" y="27940"/>
                  </a:lnTo>
                  <a:cubicBezTo>
                    <a:pt x="176149" y="27940"/>
                    <a:pt x="28067" y="173863"/>
                    <a:pt x="28067" y="353314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144372" y="8278962"/>
            <a:ext cx="898436" cy="1312251"/>
            <a:chOff x="0" y="0"/>
            <a:chExt cx="905091" cy="132197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05129" cy="1321943"/>
            </a:xfrm>
            <a:custGeom>
              <a:avLst/>
              <a:gdLst/>
              <a:ahLst/>
              <a:cxnLst/>
              <a:rect l="l" t="t" r="r" b="b"/>
              <a:pathLst>
                <a:path w="905129" h="1321943">
                  <a:moveTo>
                    <a:pt x="0" y="305816"/>
                  </a:moveTo>
                  <a:cubicBezTo>
                    <a:pt x="0" y="136906"/>
                    <a:pt x="136906" y="0"/>
                    <a:pt x="305816" y="0"/>
                  </a:cubicBezTo>
                  <a:lnTo>
                    <a:pt x="599313" y="0"/>
                  </a:lnTo>
                  <a:cubicBezTo>
                    <a:pt x="768223" y="0"/>
                    <a:pt x="905129" y="136906"/>
                    <a:pt x="905129" y="305816"/>
                  </a:cubicBezTo>
                  <a:lnTo>
                    <a:pt x="905129" y="1016127"/>
                  </a:lnTo>
                  <a:cubicBezTo>
                    <a:pt x="905129" y="1185037"/>
                    <a:pt x="768223" y="1321943"/>
                    <a:pt x="599313" y="1321943"/>
                  </a:cubicBezTo>
                  <a:lnTo>
                    <a:pt x="305816" y="1321943"/>
                  </a:lnTo>
                  <a:cubicBezTo>
                    <a:pt x="136906" y="1321943"/>
                    <a:pt x="0" y="1185037"/>
                    <a:pt x="0" y="1016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4267417" y="8405473"/>
            <a:ext cx="5486183" cy="360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JWT Authentication &amp; Authorization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267417" y="8931258"/>
            <a:ext cx="10685219" cy="33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4129" lvl="1" indent="-72064" algn="l">
              <a:lnSpc>
                <a:spcPts val="2827"/>
              </a:lnSpc>
              <a:buFont typeface="Arial"/>
              <a:buChar char="•"/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Managing JWT setup, token expiry, and secure role-based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923227" y="1653489"/>
            <a:ext cx="12441546" cy="1084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02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Upcoming System Enhancements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172503" y="3737280"/>
            <a:ext cx="3836817" cy="3066121"/>
            <a:chOff x="0" y="0"/>
            <a:chExt cx="3865238" cy="3088833"/>
          </a:xfrm>
        </p:grpSpPr>
        <p:sp>
          <p:nvSpPr>
            <p:cNvPr id="8" name="Freeform 8"/>
            <p:cNvSpPr/>
            <p:nvPr/>
          </p:nvSpPr>
          <p:spPr>
            <a:xfrm>
              <a:off x="6985" y="6985"/>
              <a:ext cx="3851148" cy="3074797"/>
            </a:xfrm>
            <a:custGeom>
              <a:avLst/>
              <a:gdLst/>
              <a:ahLst/>
              <a:cxnLst/>
              <a:rect l="l" t="t" r="r" b="b"/>
              <a:pathLst>
                <a:path w="3851148" h="3074797">
                  <a:moveTo>
                    <a:pt x="0" y="373380"/>
                  </a:moveTo>
                  <a:cubicBezTo>
                    <a:pt x="0" y="167132"/>
                    <a:pt x="167259" y="0"/>
                    <a:pt x="373634" y="0"/>
                  </a:cubicBezTo>
                  <a:lnTo>
                    <a:pt x="3477514" y="0"/>
                  </a:lnTo>
                  <a:cubicBezTo>
                    <a:pt x="3683889" y="0"/>
                    <a:pt x="3851148" y="167132"/>
                    <a:pt x="3851148" y="373253"/>
                  </a:cubicBezTo>
                  <a:lnTo>
                    <a:pt x="3851148" y="2701544"/>
                  </a:lnTo>
                  <a:cubicBezTo>
                    <a:pt x="3851148" y="2907665"/>
                    <a:pt x="3683889" y="3074797"/>
                    <a:pt x="3477514" y="3074797"/>
                  </a:cubicBezTo>
                  <a:lnTo>
                    <a:pt x="373634" y="3074797"/>
                  </a:lnTo>
                  <a:cubicBezTo>
                    <a:pt x="167259" y="3074797"/>
                    <a:pt x="0" y="2907665"/>
                    <a:pt x="0" y="2701544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3865118" cy="3088894"/>
            </a:xfrm>
            <a:custGeom>
              <a:avLst/>
              <a:gdLst/>
              <a:ahLst/>
              <a:cxnLst/>
              <a:rect l="l" t="t" r="r" b="b"/>
              <a:pathLst>
                <a:path w="3865118" h="3088894">
                  <a:moveTo>
                    <a:pt x="0" y="380365"/>
                  </a:moveTo>
                  <a:cubicBezTo>
                    <a:pt x="0" y="170307"/>
                    <a:pt x="170434" y="0"/>
                    <a:pt x="380619" y="0"/>
                  </a:cubicBezTo>
                  <a:lnTo>
                    <a:pt x="3484499" y="0"/>
                  </a:lnTo>
                  <a:lnTo>
                    <a:pt x="3484499" y="6985"/>
                  </a:lnTo>
                  <a:lnTo>
                    <a:pt x="3484499" y="0"/>
                  </a:lnTo>
                  <a:cubicBezTo>
                    <a:pt x="3694684" y="0"/>
                    <a:pt x="3865118" y="170307"/>
                    <a:pt x="3865118" y="380365"/>
                  </a:cubicBezTo>
                  <a:lnTo>
                    <a:pt x="3858133" y="380365"/>
                  </a:lnTo>
                  <a:lnTo>
                    <a:pt x="3865118" y="380365"/>
                  </a:lnTo>
                  <a:lnTo>
                    <a:pt x="3865118" y="2708529"/>
                  </a:lnTo>
                  <a:lnTo>
                    <a:pt x="3858133" y="2708529"/>
                  </a:lnTo>
                  <a:lnTo>
                    <a:pt x="3865118" y="2708529"/>
                  </a:lnTo>
                  <a:cubicBezTo>
                    <a:pt x="3865118" y="2918587"/>
                    <a:pt x="3694684" y="3088894"/>
                    <a:pt x="3484499" y="3088894"/>
                  </a:cubicBezTo>
                  <a:lnTo>
                    <a:pt x="3484499" y="3081909"/>
                  </a:lnTo>
                  <a:lnTo>
                    <a:pt x="3484499" y="3088894"/>
                  </a:lnTo>
                  <a:lnTo>
                    <a:pt x="380619" y="3088894"/>
                  </a:lnTo>
                  <a:lnTo>
                    <a:pt x="380619" y="3081909"/>
                  </a:lnTo>
                  <a:lnTo>
                    <a:pt x="380619" y="3088894"/>
                  </a:lnTo>
                  <a:cubicBezTo>
                    <a:pt x="170434" y="3088894"/>
                    <a:pt x="0" y="2918587"/>
                    <a:pt x="0" y="2708529"/>
                  </a:cubicBezTo>
                  <a:lnTo>
                    <a:pt x="0" y="380365"/>
                  </a:lnTo>
                  <a:lnTo>
                    <a:pt x="6985" y="380365"/>
                  </a:lnTo>
                  <a:lnTo>
                    <a:pt x="0" y="380365"/>
                  </a:lnTo>
                  <a:moveTo>
                    <a:pt x="13970" y="380365"/>
                  </a:moveTo>
                  <a:lnTo>
                    <a:pt x="13970" y="2708529"/>
                  </a:lnTo>
                  <a:lnTo>
                    <a:pt x="6985" y="2708529"/>
                  </a:lnTo>
                  <a:lnTo>
                    <a:pt x="13970" y="2708529"/>
                  </a:lnTo>
                  <a:cubicBezTo>
                    <a:pt x="13970" y="2910840"/>
                    <a:pt x="178181" y="3074797"/>
                    <a:pt x="380619" y="3074797"/>
                  </a:cubicBezTo>
                  <a:lnTo>
                    <a:pt x="3484499" y="3074797"/>
                  </a:lnTo>
                  <a:cubicBezTo>
                    <a:pt x="3687064" y="3074797"/>
                    <a:pt x="3851148" y="2910840"/>
                    <a:pt x="3851148" y="2708529"/>
                  </a:cubicBezTo>
                  <a:lnTo>
                    <a:pt x="3851148" y="380365"/>
                  </a:lnTo>
                  <a:cubicBezTo>
                    <a:pt x="3851148" y="178054"/>
                    <a:pt x="3686937" y="14097"/>
                    <a:pt x="3484499" y="14097"/>
                  </a:cubicBezTo>
                  <a:lnTo>
                    <a:pt x="380619" y="14097"/>
                  </a:lnTo>
                  <a:lnTo>
                    <a:pt x="380619" y="6985"/>
                  </a:lnTo>
                  <a:lnTo>
                    <a:pt x="380619" y="13970"/>
                  </a:lnTo>
                  <a:cubicBezTo>
                    <a:pt x="178181" y="13970"/>
                    <a:pt x="13970" y="178054"/>
                    <a:pt x="13970" y="38036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3440339" y="3995527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554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Password Reset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40339" y="4473654"/>
            <a:ext cx="3301144" cy="115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Users can reset their password to a secure default for account recovery, streamlining access.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242400" y="3737280"/>
            <a:ext cx="3836817" cy="3066121"/>
            <a:chOff x="0" y="0"/>
            <a:chExt cx="3865238" cy="3088833"/>
          </a:xfrm>
        </p:grpSpPr>
        <p:sp>
          <p:nvSpPr>
            <p:cNvPr id="13" name="Freeform 13"/>
            <p:cNvSpPr/>
            <p:nvPr/>
          </p:nvSpPr>
          <p:spPr>
            <a:xfrm>
              <a:off x="6985" y="6985"/>
              <a:ext cx="3851148" cy="3074797"/>
            </a:xfrm>
            <a:custGeom>
              <a:avLst/>
              <a:gdLst/>
              <a:ahLst/>
              <a:cxnLst/>
              <a:rect l="l" t="t" r="r" b="b"/>
              <a:pathLst>
                <a:path w="3851148" h="3074797">
                  <a:moveTo>
                    <a:pt x="0" y="373380"/>
                  </a:moveTo>
                  <a:cubicBezTo>
                    <a:pt x="0" y="167132"/>
                    <a:pt x="167259" y="0"/>
                    <a:pt x="373634" y="0"/>
                  </a:cubicBezTo>
                  <a:lnTo>
                    <a:pt x="3477514" y="0"/>
                  </a:lnTo>
                  <a:cubicBezTo>
                    <a:pt x="3683889" y="0"/>
                    <a:pt x="3851148" y="167132"/>
                    <a:pt x="3851148" y="373253"/>
                  </a:cubicBezTo>
                  <a:lnTo>
                    <a:pt x="3851148" y="2701544"/>
                  </a:lnTo>
                  <a:cubicBezTo>
                    <a:pt x="3851148" y="2907665"/>
                    <a:pt x="3683889" y="3074797"/>
                    <a:pt x="3477514" y="3074797"/>
                  </a:cubicBezTo>
                  <a:lnTo>
                    <a:pt x="373634" y="3074797"/>
                  </a:lnTo>
                  <a:cubicBezTo>
                    <a:pt x="167259" y="3074797"/>
                    <a:pt x="0" y="2907665"/>
                    <a:pt x="0" y="2701544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3865118" cy="3088894"/>
            </a:xfrm>
            <a:custGeom>
              <a:avLst/>
              <a:gdLst/>
              <a:ahLst/>
              <a:cxnLst/>
              <a:rect l="l" t="t" r="r" b="b"/>
              <a:pathLst>
                <a:path w="3865118" h="3088894">
                  <a:moveTo>
                    <a:pt x="0" y="380365"/>
                  </a:moveTo>
                  <a:cubicBezTo>
                    <a:pt x="0" y="170307"/>
                    <a:pt x="170434" y="0"/>
                    <a:pt x="380619" y="0"/>
                  </a:cubicBezTo>
                  <a:lnTo>
                    <a:pt x="3484499" y="0"/>
                  </a:lnTo>
                  <a:lnTo>
                    <a:pt x="3484499" y="6985"/>
                  </a:lnTo>
                  <a:lnTo>
                    <a:pt x="3484499" y="0"/>
                  </a:lnTo>
                  <a:cubicBezTo>
                    <a:pt x="3694684" y="0"/>
                    <a:pt x="3865118" y="170307"/>
                    <a:pt x="3865118" y="380365"/>
                  </a:cubicBezTo>
                  <a:lnTo>
                    <a:pt x="3858133" y="380365"/>
                  </a:lnTo>
                  <a:lnTo>
                    <a:pt x="3865118" y="380365"/>
                  </a:lnTo>
                  <a:lnTo>
                    <a:pt x="3865118" y="2708529"/>
                  </a:lnTo>
                  <a:lnTo>
                    <a:pt x="3858133" y="2708529"/>
                  </a:lnTo>
                  <a:lnTo>
                    <a:pt x="3865118" y="2708529"/>
                  </a:lnTo>
                  <a:cubicBezTo>
                    <a:pt x="3865118" y="2918587"/>
                    <a:pt x="3694684" y="3088894"/>
                    <a:pt x="3484499" y="3088894"/>
                  </a:cubicBezTo>
                  <a:lnTo>
                    <a:pt x="3484499" y="3081909"/>
                  </a:lnTo>
                  <a:lnTo>
                    <a:pt x="3484499" y="3088894"/>
                  </a:lnTo>
                  <a:lnTo>
                    <a:pt x="380619" y="3088894"/>
                  </a:lnTo>
                  <a:lnTo>
                    <a:pt x="380619" y="3081909"/>
                  </a:lnTo>
                  <a:lnTo>
                    <a:pt x="380619" y="3088894"/>
                  </a:lnTo>
                  <a:cubicBezTo>
                    <a:pt x="170434" y="3088894"/>
                    <a:pt x="0" y="2918587"/>
                    <a:pt x="0" y="2708529"/>
                  </a:cubicBezTo>
                  <a:lnTo>
                    <a:pt x="0" y="380365"/>
                  </a:lnTo>
                  <a:lnTo>
                    <a:pt x="6985" y="380365"/>
                  </a:lnTo>
                  <a:lnTo>
                    <a:pt x="0" y="380365"/>
                  </a:lnTo>
                  <a:moveTo>
                    <a:pt x="13970" y="380365"/>
                  </a:moveTo>
                  <a:lnTo>
                    <a:pt x="13970" y="2708529"/>
                  </a:lnTo>
                  <a:lnTo>
                    <a:pt x="6985" y="2708529"/>
                  </a:lnTo>
                  <a:lnTo>
                    <a:pt x="13970" y="2708529"/>
                  </a:lnTo>
                  <a:cubicBezTo>
                    <a:pt x="13970" y="2910840"/>
                    <a:pt x="178181" y="3074797"/>
                    <a:pt x="380619" y="3074797"/>
                  </a:cubicBezTo>
                  <a:lnTo>
                    <a:pt x="3484499" y="3074797"/>
                  </a:lnTo>
                  <a:cubicBezTo>
                    <a:pt x="3687064" y="3074797"/>
                    <a:pt x="3851148" y="2910840"/>
                    <a:pt x="3851148" y="2708529"/>
                  </a:cubicBezTo>
                  <a:lnTo>
                    <a:pt x="3851148" y="380365"/>
                  </a:lnTo>
                  <a:cubicBezTo>
                    <a:pt x="3851148" y="178054"/>
                    <a:pt x="3686937" y="14097"/>
                    <a:pt x="3484499" y="14097"/>
                  </a:cubicBezTo>
                  <a:lnTo>
                    <a:pt x="380619" y="14097"/>
                  </a:lnTo>
                  <a:lnTo>
                    <a:pt x="380619" y="6985"/>
                  </a:lnTo>
                  <a:lnTo>
                    <a:pt x="380619" y="13970"/>
                  </a:lnTo>
                  <a:cubicBezTo>
                    <a:pt x="178181" y="13970"/>
                    <a:pt x="13970" y="178054"/>
                    <a:pt x="13970" y="38036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7510237" y="3995527"/>
            <a:ext cx="3497706" cy="394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Adva</a:t>
            </a:r>
            <a:r>
              <a:rPr lang="en-US" sz="2554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nced Post Search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0237" y="4473654"/>
            <a:ext cx="3301144" cy="155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Enhanced filtering by status, type, date, creator, title, description, or post ID for all roles.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312298" y="3737280"/>
            <a:ext cx="3836817" cy="3066121"/>
            <a:chOff x="0" y="0"/>
            <a:chExt cx="3865238" cy="3088833"/>
          </a:xfrm>
        </p:grpSpPr>
        <p:sp>
          <p:nvSpPr>
            <p:cNvPr id="18" name="Freeform 18"/>
            <p:cNvSpPr/>
            <p:nvPr/>
          </p:nvSpPr>
          <p:spPr>
            <a:xfrm>
              <a:off x="6985" y="6985"/>
              <a:ext cx="3851148" cy="3074797"/>
            </a:xfrm>
            <a:custGeom>
              <a:avLst/>
              <a:gdLst/>
              <a:ahLst/>
              <a:cxnLst/>
              <a:rect l="l" t="t" r="r" b="b"/>
              <a:pathLst>
                <a:path w="3851148" h="3074797">
                  <a:moveTo>
                    <a:pt x="0" y="373380"/>
                  </a:moveTo>
                  <a:cubicBezTo>
                    <a:pt x="0" y="167132"/>
                    <a:pt x="167259" y="0"/>
                    <a:pt x="373634" y="0"/>
                  </a:cubicBezTo>
                  <a:lnTo>
                    <a:pt x="3477514" y="0"/>
                  </a:lnTo>
                  <a:cubicBezTo>
                    <a:pt x="3683889" y="0"/>
                    <a:pt x="3851148" y="167132"/>
                    <a:pt x="3851148" y="373253"/>
                  </a:cubicBezTo>
                  <a:lnTo>
                    <a:pt x="3851148" y="2701544"/>
                  </a:lnTo>
                  <a:cubicBezTo>
                    <a:pt x="3851148" y="2907665"/>
                    <a:pt x="3683889" y="3074797"/>
                    <a:pt x="3477514" y="3074797"/>
                  </a:cubicBezTo>
                  <a:lnTo>
                    <a:pt x="373634" y="3074797"/>
                  </a:lnTo>
                  <a:cubicBezTo>
                    <a:pt x="167259" y="3074797"/>
                    <a:pt x="0" y="2907665"/>
                    <a:pt x="0" y="2701544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3865118" cy="3088894"/>
            </a:xfrm>
            <a:custGeom>
              <a:avLst/>
              <a:gdLst/>
              <a:ahLst/>
              <a:cxnLst/>
              <a:rect l="l" t="t" r="r" b="b"/>
              <a:pathLst>
                <a:path w="3865118" h="3088894">
                  <a:moveTo>
                    <a:pt x="0" y="380365"/>
                  </a:moveTo>
                  <a:cubicBezTo>
                    <a:pt x="0" y="170307"/>
                    <a:pt x="170434" y="0"/>
                    <a:pt x="380619" y="0"/>
                  </a:cubicBezTo>
                  <a:lnTo>
                    <a:pt x="3484499" y="0"/>
                  </a:lnTo>
                  <a:lnTo>
                    <a:pt x="3484499" y="6985"/>
                  </a:lnTo>
                  <a:lnTo>
                    <a:pt x="3484499" y="0"/>
                  </a:lnTo>
                  <a:cubicBezTo>
                    <a:pt x="3694684" y="0"/>
                    <a:pt x="3865118" y="170307"/>
                    <a:pt x="3865118" y="380365"/>
                  </a:cubicBezTo>
                  <a:lnTo>
                    <a:pt x="3858133" y="380365"/>
                  </a:lnTo>
                  <a:lnTo>
                    <a:pt x="3865118" y="380365"/>
                  </a:lnTo>
                  <a:lnTo>
                    <a:pt x="3865118" y="2708529"/>
                  </a:lnTo>
                  <a:lnTo>
                    <a:pt x="3858133" y="2708529"/>
                  </a:lnTo>
                  <a:lnTo>
                    <a:pt x="3865118" y="2708529"/>
                  </a:lnTo>
                  <a:cubicBezTo>
                    <a:pt x="3865118" y="2918587"/>
                    <a:pt x="3694684" y="3088894"/>
                    <a:pt x="3484499" y="3088894"/>
                  </a:cubicBezTo>
                  <a:lnTo>
                    <a:pt x="3484499" y="3081909"/>
                  </a:lnTo>
                  <a:lnTo>
                    <a:pt x="3484499" y="3088894"/>
                  </a:lnTo>
                  <a:lnTo>
                    <a:pt x="380619" y="3088894"/>
                  </a:lnTo>
                  <a:lnTo>
                    <a:pt x="380619" y="3081909"/>
                  </a:lnTo>
                  <a:lnTo>
                    <a:pt x="380619" y="3088894"/>
                  </a:lnTo>
                  <a:cubicBezTo>
                    <a:pt x="170434" y="3088894"/>
                    <a:pt x="0" y="2918587"/>
                    <a:pt x="0" y="2708529"/>
                  </a:cubicBezTo>
                  <a:lnTo>
                    <a:pt x="0" y="380365"/>
                  </a:lnTo>
                  <a:lnTo>
                    <a:pt x="6985" y="380365"/>
                  </a:lnTo>
                  <a:lnTo>
                    <a:pt x="0" y="380365"/>
                  </a:lnTo>
                  <a:moveTo>
                    <a:pt x="13970" y="380365"/>
                  </a:moveTo>
                  <a:lnTo>
                    <a:pt x="13970" y="2708529"/>
                  </a:lnTo>
                  <a:lnTo>
                    <a:pt x="6985" y="2708529"/>
                  </a:lnTo>
                  <a:lnTo>
                    <a:pt x="13970" y="2708529"/>
                  </a:lnTo>
                  <a:cubicBezTo>
                    <a:pt x="13970" y="2910840"/>
                    <a:pt x="178181" y="3074797"/>
                    <a:pt x="380619" y="3074797"/>
                  </a:cubicBezTo>
                  <a:lnTo>
                    <a:pt x="3484499" y="3074797"/>
                  </a:lnTo>
                  <a:cubicBezTo>
                    <a:pt x="3687064" y="3074797"/>
                    <a:pt x="3851148" y="2910840"/>
                    <a:pt x="3851148" y="2708529"/>
                  </a:cubicBezTo>
                  <a:lnTo>
                    <a:pt x="3851148" y="380365"/>
                  </a:lnTo>
                  <a:cubicBezTo>
                    <a:pt x="3851148" y="178054"/>
                    <a:pt x="3686937" y="14097"/>
                    <a:pt x="3484499" y="14097"/>
                  </a:cubicBezTo>
                  <a:lnTo>
                    <a:pt x="380619" y="14097"/>
                  </a:lnTo>
                  <a:lnTo>
                    <a:pt x="380619" y="6985"/>
                  </a:lnTo>
                  <a:lnTo>
                    <a:pt x="380619" y="13970"/>
                  </a:lnTo>
                  <a:cubicBezTo>
                    <a:pt x="178181" y="13970"/>
                    <a:pt x="13970" y="178054"/>
                    <a:pt x="13970" y="38036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1580134" y="3995527"/>
            <a:ext cx="3250640" cy="3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Comment</a:t>
            </a:r>
            <a:r>
              <a:rPr lang="en-US" sz="2554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 Ownership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80134" y="4473654"/>
            <a:ext cx="3301144" cy="155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1915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Empowering users to manage their own contributions by editing or deleting their comments.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172503" y="7036421"/>
            <a:ext cx="5871766" cy="2275621"/>
            <a:chOff x="0" y="0"/>
            <a:chExt cx="5915260" cy="2292477"/>
          </a:xfrm>
        </p:grpSpPr>
        <p:sp>
          <p:nvSpPr>
            <p:cNvPr id="23" name="Freeform 23"/>
            <p:cNvSpPr/>
            <p:nvPr/>
          </p:nvSpPr>
          <p:spPr>
            <a:xfrm>
              <a:off x="6985" y="6985"/>
              <a:ext cx="5901309" cy="2278507"/>
            </a:xfrm>
            <a:custGeom>
              <a:avLst/>
              <a:gdLst/>
              <a:ahLst/>
              <a:cxnLst/>
              <a:rect l="l" t="t" r="r" b="b"/>
              <a:pathLst>
                <a:path w="5901309" h="2278507">
                  <a:moveTo>
                    <a:pt x="0" y="373380"/>
                  </a:moveTo>
                  <a:cubicBezTo>
                    <a:pt x="0" y="167132"/>
                    <a:pt x="167767" y="0"/>
                    <a:pt x="374777" y="0"/>
                  </a:cubicBezTo>
                  <a:lnTo>
                    <a:pt x="5526532" y="0"/>
                  </a:lnTo>
                  <a:cubicBezTo>
                    <a:pt x="5733542" y="0"/>
                    <a:pt x="5901309" y="167132"/>
                    <a:pt x="5901309" y="373380"/>
                  </a:cubicBezTo>
                  <a:lnTo>
                    <a:pt x="5901309" y="1905127"/>
                  </a:lnTo>
                  <a:cubicBezTo>
                    <a:pt x="5901309" y="2111248"/>
                    <a:pt x="5733542" y="2278507"/>
                    <a:pt x="5526532" y="2278507"/>
                  </a:cubicBezTo>
                  <a:lnTo>
                    <a:pt x="374777" y="2278507"/>
                  </a:lnTo>
                  <a:cubicBezTo>
                    <a:pt x="167767" y="2278507"/>
                    <a:pt x="0" y="2111375"/>
                    <a:pt x="0" y="1905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5915279" cy="2292477"/>
            </a:xfrm>
            <a:custGeom>
              <a:avLst/>
              <a:gdLst/>
              <a:ahLst/>
              <a:cxnLst/>
              <a:rect l="l" t="t" r="r" b="b"/>
              <a:pathLst>
                <a:path w="5915279" h="2292477">
                  <a:moveTo>
                    <a:pt x="0" y="380365"/>
                  </a:moveTo>
                  <a:cubicBezTo>
                    <a:pt x="0" y="170307"/>
                    <a:pt x="170942" y="0"/>
                    <a:pt x="381762" y="0"/>
                  </a:cubicBezTo>
                  <a:lnTo>
                    <a:pt x="5533517" y="0"/>
                  </a:lnTo>
                  <a:lnTo>
                    <a:pt x="5533517" y="6985"/>
                  </a:lnTo>
                  <a:lnTo>
                    <a:pt x="5533517" y="0"/>
                  </a:lnTo>
                  <a:cubicBezTo>
                    <a:pt x="5744337" y="0"/>
                    <a:pt x="5915279" y="170307"/>
                    <a:pt x="5915279" y="380365"/>
                  </a:cubicBezTo>
                  <a:lnTo>
                    <a:pt x="5908294" y="380365"/>
                  </a:lnTo>
                  <a:lnTo>
                    <a:pt x="5915279" y="380365"/>
                  </a:lnTo>
                  <a:lnTo>
                    <a:pt x="5915279" y="1912112"/>
                  </a:lnTo>
                  <a:lnTo>
                    <a:pt x="5908294" y="1912112"/>
                  </a:lnTo>
                  <a:lnTo>
                    <a:pt x="5915279" y="1912112"/>
                  </a:lnTo>
                  <a:cubicBezTo>
                    <a:pt x="5915279" y="2122170"/>
                    <a:pt x="5744337" y="2292477"/>
                    <a:pt x="5533517" y="2292477"/>
                  </a:cubicBezTo>
                  <a:lnTo>
                    <a:pt x="5533517" y="2285492"/>
                  </a:lnTo>
                  <a:lnTo>
                    <a:pt x="5533517" y="2292477"/>
                  </a:lnTo>
                  <a:lnTo>
                    <a:pt x="381762" y="2292477"/>
                  </a:lnTo>
                  <a:lnTo>
                    <a:pt x="381762" y="2285492"/>
                  </a:lnTo>
                  <a:lnTo>
                    <a:pt x="381762" y="2292477"/>
                  </a:lnTo>
                  <a:cubicBezTo>
                    <a:pt x="170942" y="2292477"/>
                    <a:pt x="0" y="2122170"/>
                    <a:pt x="0" y="1912112"/>
                  </a:cubicBezTo>
                  <a:lnTo>
                    <a:pt x="0" y="380365"/>
                  </a:lnTo>
                  <a:lnTo>
                    <a:pt x="6985" y="380365"/>
                  </a:lnTo>
                  <a:lnTo>
                    <a:pt x="0" y="380365"/>
                  </a:lnTo>
                  <a:moveTo>
                    <a:pt x="13970" y="380365"/>
                  </a:moveTo>
                  <a:lnTo>
                    <a:pt x="13970" y="1912112"/>
                  </a:lnTo>
                  <a:lnTo>
                    <a:pt x="6985" y="1912112"/>
                  </a:lnTo>
                  <a:lnTo>
                    <a:pt x="13970" y="1912112"/>
                  </a:lnTo>
                  <a:cubicBezTo>
                    <a:pt x="13970" y="2114423"/>
                    <a:pt x="178562" y="2278380"/>
                    <a:pt x="381762" y="2278380"/>
                  </a:cubicBezTo>
                  <a:lnTo>
                    <a:pt x="5533517" y="2278380"/>
                  </a:lnTo>
                  <a:cubicBezTo>
                    <a:pt x="5736590" y="2278380"/>
                    <a:pt x="5901309" y="2114296"/>
                    <a:pt x="5901309" y="1912112"/>
                  </a:cubicBezTo>
                  <a:lnTo>
                    <a:pt x="5901309" y="380365"/>
                  </a:lnTo>
                  <a:cubicBezTo>
                    <a:pt x="5901309" y="178054"/>
                    <a:pt x="5736717" y="14097"/>
                    <a:pt x="5533517" y="14097"/>
                  </a:cubicBezTo>
                  <a:lnTo>
                    <a:pt x="381762" y="14097"/>
                  </a:lnTo>
                  <a:lnTo>
                    <a:pt x="381762" y="6985"/>
                  </a:lnTo>
                  <a:lnTo>
                    <a:pt x="381762" y="13970"/>
                  </a:lnTo>
                  <a:cubicBezTo>
                    <a:pt x="178562" y="13970"/>
                    <a:pt x="13970" y="178054"/>
                    <a:pt x="13970" y="38036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3440339" y="7294668"/>
            <a:ext cx="4484461" cy="394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554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Category-Based </a:t>
            </a: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Assignment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440339" y="7772795"/>
            <a:ext cx="5336093" cy="76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Automate post assignment to relevant admins based on predefined post categories.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277349" y="7036421"/>
            <a:ext cx="5871766" cy="2275621"/>
            <a:chOff x="0" y="0"/>
            <a:chExt cx="5915260" cy="2292477"/>
          </a:xfrm>
        </p:grpSpPr>
        <p:sp>
          <p:nvSpPr>
            <p:cNvPr id="28" name="Freeform 28"/>
            <p:cNvSpPr/>
            <p:nvPr/>
          </p:nvSpPr>
          <p:spPr>
            <a:xfrm>
              <a:off x="6985" y="6985"/>
              <a:ext cx="5901309" cy="2278507"/>
            </a:xfrm>
            <a:custGeom>
              <a:avLst/>
              <a:gdLst/>
              <a:ahLst/>
              <a:cxnLst/>
              <a:rect l="l" t="t" r="r" b="b"/>
              <a:pathLst>
                <a:path w="5901309" h="2278507">
                  <a:moveTo>
                    <a:pt x="0" y="373380"/>
                  </a:moveTo>
                  <a:cubicBezTo>
                    <a:pt x="0" y="167132"/>
                    <a:pt x="167767" y="0"/>
                    <a:pt x="374777" y="0"/>
                  </a:cubicBezTo>
                  <a:lnTo>
                    <a:pt x="5526532" y="0"/>
                  </a:lnTo>
                  <a:cubicBezTo>
                    <a:pt x="5733542" y="0"/>
                    <a:pt x="5901309" y="167132"/>
                    <a:pt x="5901309" y="373380"/>
                  </a:cubicBezTo>
                  <a:lnTo>
                    <a:pt x="5901309" y="1905127"/>
                  </a:lnTo>
                  <a:cubicBezTo>
                    <a:pt x="5901309" y="2111248"/>
                    <a:pt x="5733542" y="2278507"/>
                    <a:pt x="5526532" y="2278507"/>
                  </a:cubicBezTo>
                  <a:lnTo>
                    <a:pt x="374777" y="2278507"/>
                  </a:lnTo>
                  <a:cubicBezTo>
                    <a:pt x="167767" y="2278507"/>
                    <a:pt x="0" y="2111375"/>
                    <a:pt x="0" y="1905127"/>
                  </a:cubicBezTo>
                  <a:close/>
                </a:path>
              </a:pathLst>
            </a:custGeom>
            <a:solidFill>
              <a:srgbClr val="D4E9F7"/>
            </a:solidFill>
            <a:ln w="12700">
              <a:solidFill>
                <a:srgbClr val="00000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5915279" cy="2292477"/>
            </a:xfrm>
            <a:custGeom>
              <a:avLst/>
              <a:gdLst/>
              <a:ahLst/>
              <a:cxnLst/>
              <a:rect l="l" t="t" r="r" b="b"/>
              <a:pathLst>
                <a:path w="5915279" h="2292477">
                  <a:moveTo>
                    <a:pt x="0" y="380365"/>
                  </a:moveTo>
                  <a:cubicBezTo>
                    <a:pt x="0" y="170307"/>
                    <a:pt x="170942" y="0"/>
                    <a:pt x="381762" y="0"/>
                  </a:cubicBezTo>
                  <a:lnTo>
                    <a:pt x="5533517" y="0"/>
                  </a:lnTo>
                  <a:lnTo>
                    <a:pt x="5533517" y="6985"/>
                  </a:lnTo>
                  <a:lnTo>
                    <a:pt x="5533517" y="0"/>
                  </a:lnTo>
                  <a:cubicBezTo>
                    <a:pt x="5744337" y="0"/>
                    <a:pt x="5915279" y="170307"/>
                    <a:pt x="5915279" y="380365"/>
                  </a:cubicBezTo>
                  <a:lnTo>
                    <a:pt x="5908294" y="380365"/>
                  </a:lnTo>
                  <a:lnTo>
                    <a:pt x="5915279" y="380365"/>
                  </a:lnTo>
                  <a:lnTo>
                    <a:pt x="5915279" y="1912112"/>
                  </a:lnTo>
                  <a:lnTo>
                    <a:pt x="5908294" y="1912112"/>
                  </a:lnTo>
                  <a:lnTo>
                    <a:pt x="5915279" y="1912112"/>
                  </a:lnTo>
                  <a:cubicBezTo>
                    <a:pt x="5915279" y="2122170"/>
                    <a:pt x="5744337" y="2292477"/>
                    <a:pt x="5533517" y="2292477"/>
                  </a:cubicBezTo>
                  <a:lnTo>
                    <a:pt x="5533517" y="2285492"/>
                  </a:lnTo>
                  <a:lnTo>
                    <a:pt x="5533517" y="2292477"/>
                  </a:lnTo>
                  <a:lnTo>
                    <a:pt x="381762" y="2292477"/>
                  </a:lnTo>
                  <a:lnTo>
                    <a:pt x="381762" y="2285492"/>
                  </a:lnTo>
                  <a:lnTo>
                    <a:pt x="381762" y="2292477"/>
                  </a:lnTo>
                  <a:cubicBezTo>
                    <a:pt x="170942" y="2292477"/>
                    <a:pt x="0" y="2122170"/>
                    <a:pt x="0" y="1912112"/>
                  </a:cubicBezTo>
                  <a:lnTo>
                    <a:pt x="0" y="380365"/>
                  </a:lnTo>
                  <a:lnTo>
                    <a:pt x="6985" y="380365"/>
                  </a:lnTo>
                  <a:lnTo>
                    <a:pt x="0" y="380365"/>
                  </a:lnTo>
                  <a:moveTo>
                    <a:pt x="13970" y="380365"/>
                  </a:moveTo>
                  <a:lnTo>
                    <a:pt x="13970" y="1912112"/>
                  </a:lnTo>
                  <a:lnTo>
                    <a:pt x="6985" y="1912112"/>
                  </a:lnTo>
                  <a:lnTo>
                    <a:pt x="13970" y="1912112"/>
                  </a:lnTo>
                  <a:cubicBezTo>
                    <a:pt x="13970" y="2114423"/>
                    <a:pt x="178562" y="2278380"/>
                    <a:pt x="381762" y="2278380"/>
                  </a:cubicBezTo>
                  <a:lnTo>
                    <a:pt x="5533517" y="2278380"/>
                  </a:lnTo>
                  <a:cubicBezTo>
                    <a:pt x="5736590" y="2278380"/>
                    <a:pt x="5901309" y="2114296"/>
                    <a:pt x="5901309" y="1912112"/>
                  </a:cubicBezTo>
                  <a:lnTo>
                    <a:pt x="5901309" y="380365"/>
                  </a:lnTo>
                  <a:cubicBezTo>
                    <a:pt x="5901309" y="178054"/>
                    <a:pt x="5736717" y="14097"/>
                    <a:pt x="5533517" y="14097"/>
                  </a:cubicBezTo>
                  <a:lnTo>
                    <a:pt x="381762" y="14097"/>
                  </a:lnTo>
                  <a:lnTo>
                    <a:pt x="381762" y="6985"/>
                  </a:lnTo>
                  <a:lnTo>
                    <a:pt x="381762" y="13970"/>
                  </a:lnTo>
                  <a:cubicBezTo>
                    <a:pt x="178562" y="13970"/>
                    <a:pt x="13970" y="178054"/>
                    <a:pt x="13970" y="380365"/>
                  </a:cubicBezTo>
                  <a:close/>
                </a:path>
              </a:pathLst>
            </a:custGeom>
            <a:solidFill>
              <a:srgbClr val="BACFD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9545184" y="7294668"/>
            <a:ext cx="3713616" cy="394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400" b="1" dirty="0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CI/CD &amp; </a:t>
            </a:r>
            <a:r>
              <a:rPr lang="en-US" sz="2400" b="1" dirty="0" err="1">
                <a:solidFill>
                  <a:srgbClr val="384653"/>
                </a:solidFill>
                <a:ea typeface="Barlow Bold"/>
                <a:cs typeface="Barlow Bold"/>
                <a:sym typeface="Barlow Bold"/>
              </a:rPr>
              <a:t>Dockerization</a:t>
            </a:r>
            <a:endParaRPr lang="en-US" sz="2400" b="1" dirty="0">
              <a:solidFill>
                <a:srgbClr val="384653"/>
              </a:solidFill>
              <a:ea typeface="Barlow Bold"/>
              <a:cs typeface="Barlow Bold"/>
              <a:sym typeface="Barlow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545185" y="7772795"/>
            <a:ext cx="5336093" cy="76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0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Implementing continuous integration, delivery, and containerization for robust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4199949" y="9875055"/>
            <a:ext cx="1571402" cy="375362"/>
            <a:chOff x="0" y="0"/>
            <a:chExt cx="1583042" cy="37814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1583055" cy="378079"/>
            </a:xfrm>
            <a:custGeom>
              <a:avLst/>
              <a:gdLst/>
              <a:ahLst/>
              <a:cxnLst/>
              <a:rect l="l" t="t" r="r" b="b"/>
              <a:pathLst>
                <a:path w="1583055" h="378079">
                  <a:moveTo>
                    <a:pt x="0" y="0"/>
                  </a:moveTo>
                  <a:lnTo>
                    <a:pt x="1583055" y="0"/>
                  </a:lnTo>
                  <a:lnTo>
                    <a:pt x="1583055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578843" y="1303"/>
            <a:ext cx="5255069" cy="10310371"/>
            <a:chOff x="0" y="0"/>
            <a:chExt cx="5293995" cy="1038674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5293995" cy="10386695"/>
            </a:xfrm>
            <a:custGeom>
              <a:avLst/>
              <a:gdLst/>
              <a:ahLst/>
              <a:cxnLst/>
              <a:rect l="l" t="t" r="r" b="b"/>
              <a:pathLst>
                <a:path w="5293995" h="10386695">
                  <a:moveTo>
                    <a:pt x="0" y="0"/>
                  </a:moveTo>
                  <a:lnTo>
                    <a:pt x="5293995" y="0"/>
                  </a:lnTo>
                  <a:lnTo>
                    <a:pt x="5293995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" b="-2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179454" y="3557852"/>
            <a:ext cx="6501388" cy="83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5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9454" y="4674102"/>
            <a:ext cx="6957883" cy="19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4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The Post/Issue Management System delivers a robust, user-friendly platform with a scalable microservices architecture, streamlining content creation, advanced search, and collaborative issue tracking for efficient operations and continuous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b="-2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87706" y="1303"/>
            <a:ext cx="13346206" cy="10310371"/>
            <a:chOff x="0" y="0"/>
            <a:chExt cx="13445067" cy="103867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5110" cy="10386695"/>
            </a:xfrm>
            <a:custGeom>
              <a:avLst/>
              <a:gdLst/>
              <a:ahLst/>
              <a:cxnLst/>
              <a:rect l="l" t="t" r="r" b="b"/>
              <a:pathLst>
                <a:path w="13445110" h="10386695">
                  <a:moveTo>
                    <a:pt x="0" y="0"/>
                  </a:moveTo>
                  <a:lnTo>
                    <a:pt x="13445110" y="0"/>
                  </a:lnTo>
                  <a:lnTo>
                    <a:pt x="13445110" y="10386695"/>
                  </a:lnTo>
                  <a:lnTo>
                    <a:pt x="0" y="1038669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4199949" y="9875055"/>
            <a:ext cx="1571402" cy="375362"/>
            <a:chOff x="0" y="0"/>
            <a:chExt cx="1583042" cy="37814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1583055" cy="378079"/>
            </a:xfrm>
            <a:custGeom>
              <a:avLst/>
              <a:gdLst/>
              <a:ahLst/>
              <a:cxnLst/>
              <a:rect l="l" t="t" r="r" b="b"/>
              <a:pathLst>
                <a:path w="1583055" h="378079">
                  <a:moveTo>
                    <a:pt x="0" y="0"/>
                  </a:moveTo>
                  <a:lnTo>
                    <a:pt x="1583055" y="0"/>
                  </a:lnTo>
                  <a:lnTo>
                    <a:pt x="1583055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578843" y="1303"/>
            <a:ext cx="5255069" cy="10310371"/>
            <a:chOff x="0" y="0"/>
            <a:chExt cx="5293995" cy="1038674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5293995" cy="10386695"/>
            </a:xfrm>
            <a:custGeom>
              <a:avLst/>
              <a:gdLst/>
              <a:ahLst/>
              <a:cxnLst/>
              <a:rect l="l" t="t" r="r" b="b"/>
              <a:pathLst>
                <a:path w="5293995" h="10386695">
                  <a:moveTo>
                    <a:pt x="0" y="0"/>
                  </a:moveTo>
                  <a:lnTo>
                    <a:pt x="5293995" y="0"/>
                  </a:lnTo>
                  <a:lnTo>
                    <a:pt x="5293995" y="10386695"/>
                  </a:lnTo>
                  <a:lnTo>
                    <a:pt x="0" y="1038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4" b="-2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179454" y="3167580"/>
            <a:ext cx="6957883" cy="1576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71"/>
              </a:lnSpc>
            </a:pPr>
            <a:r>
              <a:rPr lang="en-US" sz="10216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Thank You!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9454" y="5124947"/>
            <a:ext cx="6957883" cy="379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400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Appreciated your time and attention</a:t>
            </a:r>
            <a:r>
              <a:rPr lang="en-US" sz="1915" dirty="0">
                <a:solidFill>
                  <a:srgbClr val="384653"/>
                </a:solidFill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79454" y="5938314"/>
            <a:ext cx="6957883" cy="106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2"/>
              </a:lnSpc>
            </a:pPr>
            <a:r>
              <a:rPr lang="en-US" sz="6600" b="1" dirty="0">
                <a:solidFill>
                  <a:srgbClr val="2E3C4E"/>
                </a:solidFill>
                <a:ea typeface="Barlow Bold"/>
                <a:cs typeface="Barlow Bold"/>
                <a:sym typeface="Barlow Bold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588</Words>
  <Application>Microsoft Office PowerPoint</Application>
  <PresentationFormat>Custom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Consolas</vt:lpstr>
      <vt:lpstr>Calibri</vt:lpstr>
      <vt:lpstr>Arial</vt:lpstr>
      <vt:lpstr>Barlow Bold</vt:lpstr>
      <vt:lpstr>Montserrat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Mehul Rawat Chhetri</dc:creator>
  <cp:lastModifiedBy>Mehul Rawat Chhetri</cp:lastModifiedBy>
  <cp:revision>4</cp:revision>
  <dcterms:created xsi:type="dcterms:W3CDTF">2006-08-16T00:00:00Z</dcterms:created>
  <dcterms:modified xsi:type="dcterms:W3CDTF">2025-12-04T12:11:25Z</dcterms:modified>
  <dc:identifier>DAG6i_bOgRs</dc:identifier>
</cp:coreProperties>
</file>